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8288000" cy="10287000"/>
  <p:notesSz cx="6858000" cy="9144000"/>
  <p:embeddedFontLst>
    <p:embeddedFont>
      <p:font typeface="Pretendard Light"/>
      <p:regular r:id="rId43"/>
    </p:embeddedFont>
    <p:embeddedFont>
      <p:font typeface="Pretendard Bold"/>
      <p:bold r:id="rId44"/>
    </p:embeddedFont>
    <p:embeddedFont>
      <p:font typeface="Pretendard SemiBold"/>
      <p:bold r:id="rId45"/>
    </p:embeddedFont>
    <p:embeddedFont>
      <p:font typeface="Pretendard Regular"/>
      <p:regular r:id="rId46"/>
    </p:embeddedFont>
    <p:embeddedFont>
      <p:font typeface="Pretendard Medium"/>
      <p:bold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fonts/font1.fntdata" Type="http://schemas.openxmlformats.org/officeDocument/2006/relationships/font"/><Relationship Id="rId44" Target="fonts/font2.fntdata" Type="http://schemas.openxmlformats.org/officeDocument/2006/relationships/font"/><Relationship Id="rId45" Target="fonts/font3.fntdata" Type="http://schemas.openxmlformats.org/officeDocument/2006/relationships/font"/><Relationship Id="rId46" Target="fonts/font4.fntdata" Type="http://schemas.openxmlformats.org/officeDocument/2006/relationships/font"/><Relationship Id="rId47" Target="fonts/font5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11" Target="../media/image26.png" Type="http://schemas.openxmlformats.org/officeDocument/2006/relationships/image"/><Relationship Id="rId12" Target="../media/image27.svg" Type="http://schemas.openxmlformats.org/officeDocument/2006/relationships/image"/><Relationship Id="rId13" Target="../media/image28.svg" Type="http://schemas.openxmlformats.org/officeDocument/2006/relationships/image"/><Relationship Id="rId14" Target="../media/image29.png" Type="http://schemas.openxmlformats.org/officeDocument/2006/relationships/image"/><Relationship Id="rId15" Target="../media/image30.svg" Type="http://schemas.openxmlformats.org/officeDocument/2006/relationships/image"/><Relationship Id="rId16" Target="../media/image31.svg" Type="http://schemas.openxmlformats.org/officeDocument/2006/relationships/image"/><Relationship Id="rId17" Target="../media/image32.png" Type="http://schemas.openxmlformats.org/officeDocument/2006/relationships/image"/><Relationship Id="rId18" Target="../media/image33.svg" Type="http://schemas.openxmlformats.org/officeDocument/2006/relationships/image"/><Relationship Id="rId19" Target="../media/image34.png" Type="http://schemas.openxmlformats.org/officeDocument/2006/relationships/image"/><Relationship Id="rId2" Target="../media/image15.png" Type="http://schemas.openxmlformats.org/officeDocument/2006/relationships/image"/><Relationship Id="rId20" Target="../media/image35.svg" Type="http://schemas.openxmlformats.org/officeDocument/2006/relationships/image"/><Relationship Id="rId3" Target="../media/image19.svg" Type="http://schemas.openxmlformats.org/officeDocument/2006/relationships/image"/><Relationship Id="rId4" Target="../media/image13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34.png" Type="http://schemas.openxmlformats.org/officeDocument/2006/relationships/image"/><Relationship Id="rId12" Target="../media/image35.svg" Type="http://schemas.openxmlformats.org/officeDocument/2006/relationships/image"/><Relationship Id="rId13" Target="../media/image41.png" Type="http://schemas.openxmlformats.org/officeDocument/2006/relationships/image"/><Relationship Id="rId2" Target="../media/image36.png" Type="http://schemas.openxmlformats.org/officeDocument/2006/relationships/image"/><Relationship Id="rId3" Target="../media/image37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42.png" Type="http://schemas.openxmlformats.org/officeDocument/2006/relationships/image"/><Relationship Id="rId7" Target="../media/image4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9.svg" Type="http://schemas.openxmlformats.org/officeDocument/2006/relationships/image"/><Relationship Id="rId4" Target="../media/image13.png" Type="http://schemas.openxmlformats.org/officeDocument/2006/relationships/image"/><Relationship Id="rId5" Target="../media/image20.svg" Type="http://schemas.openxmlformats.org/officeDocument/2006/relationships/image"/><Relationship Id="rId6" Target="../media/image4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42.png" Type="http://schemas.openxmlformats.org/officeDocument/2006/relationships/image"/><Relationship Id="rId7" Target="../media/image43.svg" Type="http://schemas.openxmlformats.org/officeDocument/2006/relationships/image"/><Relationship Id="rId8" Target="../media/image4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46.png" Type="http://schemas.openxmlformats.org/officeDocument/2006/relationships/image"/><Relationship Id="rId7" Target="../media/image47.svg" Type="http://schemas.openxmlformats.org/officeDocument/2006/relationships/image"/><Relationship Id="rId8" Target="../media/image4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4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20.svg" Type="http://schemas.openxmlformats.org/officeDocument/2006/relationships/image"/><Relationship Id="rId4" Target="../media/image50.png" Type="http://schemas.openxmlformats.org/officeDocument/2006/relationships/image"/><Relationship Id="rId5" Target="../media/image51.png" Type="http://schemas.openxmlformats.org/officeDocument/2006/relationships/image"/><Relationship Id="rId6" Target="../media/image52.png" Type="http://schemas.openxmlformats.org/officeDocument/2006/relationships/image"/><Relationship Id="rId7" Target="../media/image53.svg" Type="http://schemas.openxmlformats.org/officeDocument/2006/relationships/image"/><Relationship Id="rId8" Target="../media/image5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20.svg" Type="http://schemas.openxmlformats.org/officeDocument/2006/relationships/image"/><Relationship Id="rId4" Target="../media/image5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20.svg" Type="http://schemas.openxmlformats.org/officeDocument/2006/relationships/image"/><Relationship Id="rId4" Target="../media/image56.png" Type="http://schemas.openxmlformats.org/officeDocument/2006/relationships/image"/><Relationship Id="rId5" Target="../media/image57.png" Type="http://schemas.openxmlformats.org/officeDocument/2006/relationships/image"/><Relationship Id="rId6" Target="../media/image58.png" Type="http://schemas.openxmlformats.org/officeDocument/2006/relationships/image"/><Relationship Id="rId7" Target="../media/image5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png" Type="http://schemas.openxmlformats.org/officeDocument/2006/relationships/image"/><Relationship Id="rId11" Target="../media/image65.svg" Type="http://schemas.openxmlformats.org/officeDocument/2006/relationships/image"/><Relationship Id="rId12" Target="../media/image66.pn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3.png" Type="http://schemas.openxmlformats.org/officeDocument/2006/relationships/image"/><Relationship Id="rId5" Target="../media/image20.svg" Type="http://schemas.openxmlformats.org/officeDocument/2006/relationships/image"/><Relationship Id="rId6" Target="../media/image60.png" Type="http://schemas.openxmlformats.org/officeDocument/2006/relationships/image"/><Relationship Id="rId7" Target="../media/image61.svg" Type="http://schemas.openxmlformats.org/officeDocument/2006/relationships/image"/><Relationship Id="rId8" Target="../media/image62.pn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.svg" Type="http://schemas.openxmlformats.org/officeDocument/2006/relationships/image"/><Relationship Id="rId11" Target="../media/image70.png" Type="http://schemas.openxmlformats.org/officeDocument/2006/relationships/image"/><Relationship Id="rId12" Target="../media/image71.svg" Type="http://schemas.openxmlformats.org/officeDocument/2006/relationships/image"/><Relationship Id="rId13" Target="../media/image72.png" Type="http://schemas.openxmlformats.org/officeDocument/2006/relationships/image"/><Relationship Id="rId14" Target="../media/image73.png" Type="http://schemas.openxmlformats.org/officeDocument/2006/relationships/image"/><Relationship Id="rId15" Target="../media/image74.png" Type="http://schemas.openxmlformats.org/officeDocument/2006/relationships/image"/><Relationship Id="rId16" Target="../media/image75.png" Type="http://schemas.openxmlformats.org/officeDocument/2006/relationships/image"/><Relationship Id="rId17" Target="../media/image76.svg" Type="http://schemas.openxmlformats.org/officeDocument/2006/relationships/image"/><Relationship Id="rId18" Target="../media/image77.png" Type="http://schemas.openxmlformats.org/officeDocument/2006/relationships/image"/><Relationship Id="rId19" Target="../media/image78.svg" Type="http://schemas.openxmlformats.org/officeDocument/2006/relationships/image"/><Relationship Id="rId2" Target="../media/image15.png" Type="http://schemas.openxmlformats.org/officeDocument/2006/relationships/image"/><Relationship Id="rId20" Target="../media/image79.svg" Type="http://schemas.openxmlformats.org/officeDocument/2006/relationships/image"/><Relationship Id="rId3" Target="../media/image16.svg" Type="http://schemas.openxmlformats.org/officeDocument/2006/relationships/image"/><Relationship Id="rId4" Target="../media/image13.png" Type="http://schemas.openxmlformats.org/officeDocument/2006/relationships/image"/><Relationship Id="rId5" Target="../media/image20.svg" Type="http://schemas.openxmlformats.org/officeDocument/2006/relationships/image"/><Relationship Id="rId6" Target="../media/image67.png" Type="http://schemas.openxmlformats.org/officeDocument/2006/relationships/image"/><Relationship Id="rId7" Target="../media/image60.png" Type="http://schemas.openxmlformats.org/officeDocument/2006/relationships/image"/><Relationship Id="rId8" Target="../media/image61.svg" Type="http://schemas.openxmlformats.org/officeDocument/2006/relationships/image"/><Relationship Id="rId9" Target="../media/image6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20.svg" Type="http://schemas.openxmlformats.org/officeDocument/2006/relationships/image"/><Relationship Id="rId4" Target="../media/image8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7.png" Type="http://schemas.openxmlformats.org/officeDocument/2006/relationships/image"/><Relationship Id="rId11" Target="../media/image88.png" Type="http://schemas.openxmlformats.org/officeDocument/2006/relationships/image"/><Relationship Id="rId12" Target="../media/image89.svg" Type="http://schemas.openxmlformats.org/officeDocument/2006/relationships/image"/><Relationship Id="rId13" Target="../media/image90.png" Type="http://schemas.openxmlformats.org/officeDocument/2006/relationships/image"/><Relationship Id="rId14" Target="../media/image91.svg" Type="http://schemas.openxmlformats.org/officeDocument/2006/relationships/image"/><Relationship Id="rId15" Target="../media/image92.png" Type="http://schemas.openxmlformats.org/officeDocument/2006/relationships/image"/><Relationship Id="rId16" Target="../media/image93.svg" Type="http://schemas.openxmlformats.org/officeDocument/2006/relationships/image"/><Relationship Id="rId2" Target="../media/image13.png" Type="http://schemas.openxmlformats.org/officeDocument/2006/relationships/image"/><Relationship Id="rId3" Target="../media/image20.svg" Type="http://schemas.openxmlformats.org/officeDocument/2006/relationships/image"/><Relationship Id="rId4" Target="../media/image81.png" Type="http://schemas.openxmlformats.org/officeDocument/2006/relationships/image"/><Relationship Id="rId5" Target="../media/image82.png" Type="http://schemas.openxmlformats.org/officeDocument/2006/relationships/image"/><Relationship Id="rId6" Target="../media/image83.png" Type="http://schemas.openxmlformats.org/officeDocument/2006/relationships/image"/><Relationship Id="rId7" Target="../media/image84.svg" Type="http://schemas.openxmlformats.org/officeDocument/2006/relationships/image"/><Relationship Id="rId8" Target="../media/image85.png" Type="http://schemas.openxmlformats.org/officeDocument/2006/relationships/image"/><Relationship Id="rId9" Target="../media/image8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20.svg" Type="http://schemas.openxmlformats.org/officeDocument/2006/relationships/image"/><Relationship Id="rId4" Target="../media/image94.png" Type="http://schemas.openxmlformats.org/officeDocument/2006/relationships/image"/><Relationship Id="rId5" Target="../media/image95.png" Type="http://schemas.openxmlformats.org/officeDocument/2006/relationships/image"/><Relationship Id="rId6" Target="../media/image9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42.png" Type="http://schemas.openxmlformats.org/officeDocument/2006/relationships/image"/><Relationship Id="rId7" Target="../media/image43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97.png" Type="http://schemas.openxmlformats.org/officeDocument/2006/relationships/image"/><Relationship Id="rId5" Target="../media/image98.png" Type="http://schemas.openxmlformats.org/officeDocument/2006/relationships/image"/><Relationship Id="rId6" Target="../media/image99.png" Type="http://schemas.openxmlformats.org/officeDocument/2006/relationships/image"/><Relationship Id="rId7" Target="../media/image100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7.png" Type="http://schemas.openxmlformats.org/officeDocument/2006/relationships/image"/><Relationship Id="rId11" Target="../media/image108.svg" Type="http://schemas.openxmlformats.org/officeDocument/2006/relationships/image"/><Relationship Id="rId12" Target="../media/image109.png" Type="http://schemas.openxmlformats.org/officeDocument/2006/relationships/image"/><Relationship Id="rId13" Target="../media/image110.svg" Type="http://schemas.openxmlformats.org/officeDocument/2006/relationships/image"/><Relationship Id="rId14" Target="../media/image111.pn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01.png" Type="http://schemas.openxmlformats.org/officeDocument/2006/relationships/image"/><Relationship Id="rId5" Target="../media/image102.png" Type="http://schemas.openxmlformats.org/officeDocument/2006/relationships/image"/><Relationship Id="rId6" Target="../media/image103.svg" Type="http://schemas.openxmlformats.org/officeDocument/2006/relationships/image"/><Relationship Id="rId7" Target="../media/image104.png" Type="http://schemas.openxmlformats.org/officeDocument/2006/relationships/image"/><Relationship Id="rId8" Target="../media/image105.png" Type="http://schemas.openxmlformats.org/officeDocument/2006/relationships/image"/><Relationship Id="rId9" Target="../media/image106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12.png" Type="http://schemas.openxmlformats.org/officeDocument/2006/relationships/image"/><Relationship Id="rId5" Target="../media/image11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0.png" Type="http://schemas.openxmlformats.org/officeDocument/2006/relationships/image"/><Relationship Id="rId11" Target="../media/image121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14.png" Type="http://schemas.openxmlformats.org/officeDocument/2006/relationships/image"/><Relationship Id="rId5" Target="../media/image115.png" Type="http://schemas.openxmlformats.org/officeDocument/2006/relationships/image"/><Relationship Id="rId6" Target="../media/image116.png" Type="http://schemas.openxmlformats.org/officeDocument/2006/relationships/image"/><Relationship Id="rId7" Target="../media/image117.svg" Type="http://schemas.openxmlformats.org/officeDocument/2006/relationships/image"/><Relationship Id="rId8" Target="../media/image118.png" Type="http://schemas.openxmlformats.org/officeDocument/2006/relationships/image"/><Relationship Id="rId9" Target="../media/image11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42.png" Type="http://schemas.openxmlformats.org/officeDocument/2006/relationships/image"/><Relationship Id="rId7" Target="../media/image43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9.svg" Type="http://schemas.openxmlformats.org/officeDocument/2006/relationships/image"/><Relationship Id="rId4" Target="../media/image13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9.svg" Type="http://schemas.openxmlformats.org/officeDocument/2006/relationships/image"/><Relationship Id="rId4" Target="../media/image13.png" Type="http://schemas.openxmlformats.org/officeDocument/2006/relationships/image"/><Relationship Id="rId5" Target="../media/image20.svg" Type="http://schemas.openxmlformats.org/officeDocument/2006/relationships/image"/><Relationship Id="rId6" Target="../media/image122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7.png" Type="http://schemas.openxmlformats.org/officeDocument/2006/relationships/image"/><Relationship Id="rId11" Target="../media/image128.svg" Type="http://schemas.openxmlformats.org/officeDocument/2006/relationships/image"/><Relationship Id="rId12" Target="../media/image129.png" Type="http://schemas.openxmlformats.org/officeDocument/2006/relationships/image"/><Relationship Id="rId13" Target="../media/image130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3.png" Type="http://schemas.openxmlformats.org/officeDocument/2006/relationships/image"/><Relationship Id="rId5" Target="../media/image20.svg" Type="http://schemas.openxmlformats.org/officeDocument/2006/relationships/image"/><Relationship Id="rId6" Target="../media/image123.png" Type="http://schemas.openxmlformats.org/officeDocument/2006/relationships/image"/><Relationship Id="rId7" Target="../media/image124.png" Type="http://schemas.openxmlformats.org/officeDocument/2006/relationships/image"/><Relationship Id="rId8" Target="../media/image125.png" Type="http://schemas.openxmlformats.org/officeDocument/2006/relationships/image"/><Relationship Id="rId9" Target="../media/image126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42.png" Type="http://schemas.openxmlformats.org/officeDocument/2006/relationships/image"/><Relationship Id="rId7" Target="../media/image43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3.png" Type="http://schemas.openxmlformats.org/officeDocument/2006/relationships/image"/><Relationship Id="rId5" Target="../media/image20.svg" Type="http://schemas.openxmlformats.org/officeDocument/2006/relationships/image"/><Relationship Id="rId6" Target="../media/image131.png" Type="http://schemas.openxmlformats.org/officeDocument/2006/relationships/image"/><Relationship Id="rId7" Target="../media/image132.png" Type="http://schemas.openxmlformats.org/officeDocument/2006/relationships/image"/><Relationship Id="rId8" Target="../media/image133.png" Type="http://schemas.openxmlformats.org/officeDocument/2006/relationships/image"/><Relationship Id="rId9" Target="../media/image134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3.png" Type="http://schemas.openxmlformats.org/officeDocument/2006/relationships/image"/><Relationship Id="rId5" Target="../media/image20.svg" Type="http://schemas.openxmlformats.org/officeDocument/2006/relationships/image"/><Relationship Id="rId6" Target="../media/image135.png" Type="http://schemas.openxmlformats.org/officeDocument/2006/relationships/image"/><Relationship Id="rId7" Target="../media/image136.png" Type="http://schemas.openxmlformats.org/officeDocument/2006/relationships/image"/><Relationship Id="rId8" Target="../media/image137.png" Type="http://schemas.openxmlformats.org/officeDocument/2006/relationships/image"/><Relationship Id="rId9" Target="../media/image138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3.png" Type="http://schemas.openxmlformats.org/officeDocument/2006/relationships/image"/><Relationship Id="rId11" Target="../media/image144.png" Type="http://schemas.openxmlformats.org/officeDocument/2006/relationships/image"/><Relationship Id="rId12" Target="../media/image145.svg" Type="http://schemas.openxmlformats.org/officeDocument/2006/relationships/image"/><Relationship Id="rId2" Target="../media/image15.png" Type="http://schemas.openxmlformats.org/officeDocument/2006/relationships/image"/><Relationship Id="rId3" Target="../media/image19.svg" Type="http://schemas.openxmlformats.org/officeDocument/2006/relationships/image"/><Relationship Id="rId4" Target="../media/image13.png" Type="http://schemas.openxmlformats.org/officeDocument/2006/relationships/image"/><Relationship Id="rId5" Target="../media/image20.svg" Type="http://schemas.openxmlformats.org/officeDocument/2006/relationships/image"/><Relationship Id="rId6" Target="../media/image139.png" Type="http://schemas.openxmlformats.org/officeDocument/2006/relationships/image"/><Relationship Id="rId7" Target="../media/image140.png" Type="http://schemas.openxmlformats.org/officeDocument/2006/relationships/image"/><Relationship Id="rId8" Target="../media/image141.png" Type="http://schemas.openxmlformats.org/officeDocument/2006/relationships/image"/><Relationship Id="rId9" Target="../media/image142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46.png" Type="http://schemas.openxmlformats.org/officeDocument/2006/relationships/image"/><Relationship Id="rId7" Target="../media/image147.png" Type="http://schemas.openxmlformats.org/officeDocument/2006/relationships/image"/><Relationship Id="rId8" Target="../media/image148.png" Type="http://schemas.openxmlformats.org/officeDocument/2006/relationships/image"/><Relationship Id="rId9" Target="../media/image149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42.png" Type="http://schemas.openxmlformats.org/officeDocument/2006/relationships/image"/><Relationship Id="rId7" Target="../media/image43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9.svg" Type="http://schemas.openxmlformats.org/officeDocument/2006/relationships/image"/><Relationship Id="rId4" Target="../media/image13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42.png" Type="http://schemas.openxmlformats.org/officeDocument/2006/relationships/image"/><Relationship Id="rId7" Target="../media/image43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3.png" Type="http://schemas.openxmlformats.org/officeDocument/2006/relationships/image"/><Relationship Id="rId11" Target="../media/image154.svg" Type="http://schemas.openxmlformats.org/officeDocument/2006/relationships/image"/><Relationship Id="rId12" Target="../media/image155.png" Type="http://schemas.openxmlformats.org/officeDocument/2006/relationships/image"/><Relationship Id="rId13" Target="../media/image156.svg" Type="http://schemas.openxmlformats.org/officeDocument/2006/relationships/image"/><Relationship Id="rId14" Target="../media/image157.png" Type="http://schemas.openxmlformats.org/officeDocument/2006/relationships/image"/><Relationship Id="rId15" Target="../media/image158.svg" Type="http://schemas.openxmlformats.org/officeDocument/2006/relationships/image"/><Relationship Id="rId16" Target="../media/image159.png" Type="http://schemas.openxmlformats.org/officeDocument/2006/relationships/image"/><Relationship Id="rId17" Target="../media/image160.png" Type="http://schemas.openxmlformats.org/officeDocument/2006/relationships/image"/><Relationship Id="rId18" Target="../media/image161.png" Type="http://schemas.openxmlformats.org/officeDocument/2006/relationships/image"/><Relationship Id="rId19" Target="../media/image162.png" Type="http://schemas.openxmlformats.org/officeDocument/2006/relationships/image"/><Relationship Id="rId2" Target="../media/image15.png" Type="http://schemas.openxmlformats.org/officeDocument/2006/relationships/image"/><Relationship Id="rId20" Target="../media/image163.png" Type="http://schemas.openxmlformats.org/officeDocument/2006/relationships/image"/><Relationship Id="rId21" Target="../media/image164.png" Type="http://schemas.openxmlformats.org/officeDocument/2006/relationships/image"/><Relationship Id="rId22" Target="../media/image165.png" Type="http://schemas.openxmlformats.org/officeDocument/2006/relationships/image"/><Relationship Id="rId23" Target="../media/image166.png" Type="http://schemas.openxmlformats.org/officeDocument/2006/relationships/image"/><Relationship Id="rId3" Target="../media/image16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60.png" Type="http://schemas.openxmlformats.org/officeDocument/2006/relationships/image"/><Relationship Id="rId7" Target="../media/image150.svg" Type="http://schemas.openxmlformats.org/officeDocument/2006/relationships/image"/><Relationship Id="rId8" Target="../media/image151.png" Type="http://schemas.openxmlformats.org/officeDocument/2006/relationships/image"/><Relationship Id="rId9" Target="../media/image152.sv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1.png" Type="http://schemas.openxmlformats.org/officeDocument/2006/relationships/image"/><Relationship Id="rId11" Target="../media/image172.png" Type="http://schemas.openxmlformats.org/officeDocument/2006/relationships/image"/><Relationship Id="rId12" Target="../media/image173.svg" Type="http://schemas.openxmlformats.org/officeDocument/2006/relationships/image"/><Relationship Id="rId13" Target="../media/image174.png" Type="http://schemas.openxmlformats.org/officeDocument/2006/relationships/image"/><Relationship Id="rId14" Target="../media/image175.svg" Type="http://schemas.openxmlformats.org/officeDocument/2006/relationships/image"/><Relationship Id="rId15" Target="../media/image176.png" Type="http://schemas.openxmlformats.org/officeDocument/2006/relationships/image"/><Relationship Id="rId16" Target="../media/image177.svg" Type="http://schemas.openxmlformats.org/officeDocument/2006/relationships/image"/><Relationship Id="rId17" Target="../media/image178.png" Type="http://schemas.openxmlformats.org/officeDocument/2006/relationships/image"/><Relationship Id="rId18" Target="../media/image179.svg" Type="http://schemas.openxmlformats.org/officeDocument/2006/relationships/image"/><Relationship Id="rId19" Target="../media/image180.png" Type="http://schemas.openxmlformats.org/officeDocument/2006/relationships/image"/><Relationship Id="rId2" Target="../media/image167.png" Type="http://schemas.openxmlformats.org/officeDocument/2006/relationships/image"/><Relationship Id="rId20" Target="../media/image181.png" Type="http://schemas.openxmlformats.org/officeDocument/2006/relationships/image"/><Relationship Id="rId3" Target="../media/image168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69.png" Type="http://schemas.openxmlformats.org/officeDocument/2006/relationships/image"/><Relationship Id="rId9" Target="../media/image170.sv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3.png" Type="http://schemas.openxmlformats.org/officeDocument/2006/relationships/image"/><Relationship Id="rId11" Target="../media/image184.svg" Type="http://schemas.openxmlformats.org/officeDocument/2006/relationships/image"/><Relationship Id="rId12" Target="../media/image185.svg" Type="http://schemas.openxmlformats.org/officeDocument/2006/relationships/image"/><Relationship Id="rId13" Target="../media/image186.png" Type="http://schemas.openxmlformats.org/officeDocument/2006/relationships/image"/><Relationship Id="rId14" Target="../media/image187.svg" Type="http://schemas.openxmlformats.org/officeDocument/2006/relationships/image"/><Relationship Id="rId15" Target="../media/image188.svg" Type="http://schemas.openxmlformats.org/officeDocument/2006/relationships/image"/><Relationship Id="rId16" Target="../media/image189.svg" Type="http://schemas.openxmlformats.org/officeDocument/2006/relationships/image"/><Relationship Id="rId17" Target="../media/image190.svg" Type="http://schemas.openxmlformats.org/officeDocument/2006/relationships/image"/><Relationship Id="rId18" Target="../media/image191.svg" Type="http://schemas.openxmlformats.org/officeDocument/2006/relationships/image"/><Relationship Id="rId19" Target="../media/image192.svg" Type="http://schemas.openxmlformats.org/officeDocument/2006/relationships/image"/><Relationship Id="rId2" Target="../media/image167.png" Type="http://schemas.openxmlformats.org/officeDocument/2006/relationships/image"/><Relationship Id="rId20" Target="../media/image193.svg" Type="http://schemas.openxmlformats.org/officeDocument/2006/relationships/image"/><Relationship Id="rId21" Target="../media/image194.svg" Type="http://schemas.openxmlformats.org/officeDocument/2006/relationships/image"/><Relationship Id="rId22" Target="../media/image195.svg" Type="http://schemas.openxmlformats.org/officeDocument/2006/relationships/image"/><Relationship Id="rId23" Target="../media/image196.svg" Type="http://schemas.openxmlformats.org/officeDocument/2006/relationships/image"/><Relationship Id="rId24" Target="../media/image197.svg" Type="http://schemas.openxmlformats.org/officeDocument/2006/relationships/image"/><Relationship Id="rId25" Target="../media/image198.svg" Type="http://schemas.openxmlformats.org/officeDocument/2006/relationships/image"/><Relationship Id="rId26" Target="../media/image199.svg" Type="http://schemas.openxmlformats.org/officeDocument/2006/relationships/image"/><Relationship Id="rId27" Target="../media/image200.png" Type="http://schemas.openxmlformats.org/officeDocument/2006/relationships/image"/><Relationship Id="rId3" Target="../media/image168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60.png" Type="http://schemas.openxmlformats.org/officeDocument/2006/relationships/image"/><Relationship Id="rId9" Target="../media/image18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2712700" y="3517900"/>
            <a:ext cx="381000" cy="444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alphaModFix amt="63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231900" y="8534400"/>
            <a:ext cx="88900" cy="7366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231900" y="1219200"/>
            <a:ext cx="14389100" cy="2603500"/>
          </a:xfrm>
          <a:prstGeom prst="rect">
            <a:avLst/>
          </a:prstGeom>
        </p:spPr>
        <p:txBody>
          <a:bodyPr anchor="ctr" rtlCol="false" lIns="0" tIns="99060" rIns="0" bIns="99060"/>
          <a:lstStyle/>
          <a:p>
            <a:pPr algn="l" lvl="0">
              <a:lnSpc>
                <a:spcPct val="99600"/>
              </a:lnSpc>
            </a:pPr>
            <a:r>
              <a:rPr lang="en-US" sz="7800" b="false" i="false" u="none" strike="noStrike" spc="-300">
                <a:solidFill>
                  <a:srgbClr val="0061F0"/>
                </a:solidFill>
                <a:latin typeface="Pretendard Bold"/>
                <a:ea typeface="Pretendard Bold"/>
                <a:cs typeface="Pretendard Bold"/>
              </a:rPr>
              <a:t>Step Motor Controller와 </a:t>
            </a:r>
          </a:p>
          <a:p>
            <a:pPr algn="l" lvl="0">
              <a:lnSpc>
                <a:spcPct val="99600"/>
              </a:lnSpc>
            </a:pPr>
            <a:r>
              <a:rPr lang="en-US" sz="7800" b="false" i="false" u="none" strike="noStrike" spc="-300">
                <a:solidFill>
                  <a:srgbClr val="0061F0"/>
                </a:solidFill>
                <a:latin typeface="Pretendard Bold"/>
                <a:ea typeface="Pretendard Bold"/>
                <a:cs typeface="Pretendard Bold"/>
              </a:rPr>
              <a:t>ISP SoC를 이용한 ADAS 시스템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70000" y="4000500"/>
            <a:ext cx="8331200" cy="558800"/>
          </a:xfrm>
          <a:prstGeom prst="rect">
            <a:avLst/>
          </a:prstGeom>
        </p:spPr>
        <p:txBody>
          <a:bodyPr anchor="t" rtlCol="false" lIns="0" tIns="38100" rIns="0" bIns="0"/>
          <a:lstStyle/>
          <a:p>
            <a:pPr algn="l" lvl="0">
              <a:lnSpc>
                <a:spcPct val="99600"/>
              </a:lnSpc>
            </a:pPr>
            <a:r>
              <a:rPr lang="en-US" sz="3000" b="false" i="false" u="none" strike="noStrike" spc="-100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Auto Line Tracing &amp; Red Object Detection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9400" y="8534400"/>
            <a:ext cx="3644900" cy="406400"/>
          </a:xfrm>
          <a:prstGeom prst="rect">
            <a:avLst/>
          </a:prstGeom>
        </p:spPr>
        <p:txBody>
          <a:bodyPr anchor="ctr" rtlCol="false" lIns="0" tIns="26670" rIns="0" bIns="26670"/>
          <a:lstStyle/>
          <a:p>
            <a:pPr algn="l" lvl="0">
              <a:lnSpc>
                <a:spcPct val="99600"/>
              </a:lnSpc>
            </a:pPr>
            <a:r>
              <a:rPr lang="en-US" sz="2100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2026.09.08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9400" y="9004300"/>
            <a:ext cx="79883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222222">
                    <a:alpha val="50980"/>
                  </a:srgbClr>
                </a:solidFill>
                <a:latin typeface="Pretendard Light"/>
                <a:ea typeface="Pretendard Light"/>
                <a:cs typeface="Pretendard Light"/>
              </a:rPr>
              <a:t>RTL-Based Vision Processing and MicroBlaze Control with UVM-Verified Sobel Filtering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4262100" y="3886200"/>
            <a:ext cx="4038600" cy="6413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255225">
            <a:off x="13906500" y="5448300"/>
            <a:ext cx="1473200" cy="2387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13728700" y="4724400"/>
            <a:ext cx="1092200" cy="1092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15481300" y="4191000"/>
            <a:ext cx="965200" cy="965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409700" y="584200"/>
            <a:ext cx="21209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499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TEAM VCC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812800" y="9664700"/>
            <a:ext cx="168275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4109700" y="1638300"/>
            <a:ext cx="1879600" cy="38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4109700" y="3962400"/>
            <a:ext cx="1879600" cy="38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4109700" y="5130800"/>
            <a:ext cx="1879600" cy="38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4109700" y="6324600"/>
            <a:ext cx="1879600" cy="38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4109700" y="7454900"/>
            <a:ext cx="1879600" cy="38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4109700" y="8623300"/>
            <a:ext cx="1879600" cy="381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409700" y="1917700"/>
            <a:ext cx="42291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0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목차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54800" y="1358900"/>
            <a:ext cx="1549400" cy="609600"/>
          </a:xfrm>
          <a:prstGeom prst="rect">
            <a:avLst/>
          </a:prstGeom>
        </p:spPr>
        <p:txBody>
          <a:bodyPr anchor="t" rtlCol="false" lIns="0" tIns="41910" rIns="0" bIns="0"/>
          <a:lstStyle/>
          <a:p>
            <a:pPr algn="l" lvl="0">
              <a:lnSpc>
                <a:spcPct val="99600"/>
              </a:lnSpc>
            </a:pPr>
            <a:r>
              <a:rPr lang="en-US" sz="33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54800" y="3683000"/>
            <a:ext cx="1460500" cy="609600"/>
          </a:xfrm>
          <a:prstGeom prst="rect">
            <a:avLst/>
          </a:prstGeom>
        </p:spPr>
        <p:txBody>
          <a:bodyPr anchor="t" rtlCol="false" lIns="0" tIns="41910" rIns="0" bIns="0"/>
          <a:lstStyle/>
          <a:p>
            <a:pPr algn="l" lvl="0">
              <a:lnSpc>
                <a:spcPct val="99600"/>
              </a:lnSpc>
            </a:pPr>
            <a:r>
              <a:rPr lang="en-US" sz="33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54800" y="4838700"/>
            <a:ext cx="1460500" cy="609600"/>
          </a:xfrm>
          <a:prstGeom prst="rect">
            <a:avLst/>
          </a:prstGeom>
        </p:spPr>
        <p:txBody>
          <a:bodyPr anchor="t" rtlCol="false" lIns="0" tIns="41910" rIns="0" bIns="0"/>
          <a:lstStyle/>
          <a:p>
            <a:pPr algn="l" lvl="0">
              <a:lnSpc>
                <a:spcPct val="99600"/>
              </a:lnSpc>
            </a:pPr>
            <a:r>
              <a:rPr lang="en-US" sz="33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54800" y="6007100"/>
            <a:ext cx="1460500" cy="609600"/>
          </a:xfrm>
          <a:prstGeom prst="rect">
            <a:avLst/>
          </a:prstGeom>
        </p:spPr>
        <p:txBody>
          <a:bodyPr anchor="t" rtlCol="false" lIns="0" tIns="41910" rIns="0" bIns="0"/>
          <a:lstStyle/>
          <a:p>
            <a:pPr algn="l" lvl="0">
              <a:lnSpc>
                <a:spcPct val="99600"/>
              </a:lnSpc>
            </a:pPr>
            <a:r>
              <a:rPr lang="en-US" sz="33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54800" y="7175500"/>
            <a:ext cx="1460500" cy="609600"/>
          </a:xfrm>
          <a:prstGeom prst="rect">
            <a:avLst/>
          </a:prstGeom>
        </p:spPr>
        <p:txBody>
          <a:bodyPr anchor="t" rtlCol="false" lIns="0" tIns="41910" rIns="0" bIns="0"/>
          <a:lstStyle/>
          <a:p>
            <a:pPr algn="l" lvl="0">
              <a:lnSpc>
                <a:spcPct val="99600"/>
              </a:lnSpc>
            </a:pPr>
            <a:r>
              <a:rPr lang="en-US" sz="33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54800" y="8331200"/>
            <a:ext cx="1460500" cy="609600"/>
          </a:xfrm>
          <a:prstGeom prst="rect">
            <a:avLst/>
          </a:prstGeom>
        </p:spPr>
        <p:txBody>
          <a:bodyPr anchor="t" rtlCol="false" lIns="0" tIns="41910" rIns="0" bIns="0"/>
          <a:lstStyle/>
          <a:p>
            <a:pPr algn="l" lvl="0">
              <a:lnSpc>
                <a:spcPct val="99600"/>
              </a:lnSpc>
            </a:pPr>
            <a:r>
              <a:rPr lang="en-US" sz="33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102600" y="1409700"/>
            <a:ext cx="58293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00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프로젝트 개요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102600" y="3733800"/>
            <a:ext cx="58293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00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전체 시스템 아키텍처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102600" y="4902200"/>
            <a:ext cx="58293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00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ISP 시스템 &amp; 문제해결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102600" y="6057900"/>
            <a:ext cx="58293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00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모터 동작 &amp; 문제해결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02600" y="7226300"/>
            <a:ext cx="58293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00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시연 영상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02600" y="8382000"/>
            <a:ext cx="58293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00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결론 및 향후 목표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243300" y="1447800"/>
            <a:ext cx="927100" cy="419100"/>
          </a:xfrm>
          <a:prstGeom prst="rect">
            <a:avLst/>
          </a:prstGeom>
        </p:spPr>
        <p:txBody>
          <a:bodyPr anchor="t" rtlCol="false" lIns="0" tIns="27940" rIns="0" bIns="0"/>
          <a:lstStyle/>
          <a:p>
            <a:pPr algn="l" lvl="0">
              <a:lnSpc>
                <a:spcPct val="99600"/>
              </a:lnSpc>
            </a:pPr>
            <a:r>
              <a:rPr lang="en-US" sz="2199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03p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243300" y="3784600"/>
            <a:ext cx="927100" cy="419100"/>
          </a:xfrm>
          <a:prstGeom prst="rect">
            <a:avLst/>
          </a:prstGeom>
        </p:spPr>
        <p:txBody>
          <a:bodyPr anchor="t" rtlCol="false" lIns="0" tIns="27940" rIns="0" bIns="0"/>
          <a:lstStyle/>
          <a:p>
            <a:pPr algn="l" lvl="0">
              <a:lnSpc>
                <a:spcPct val="99600"/>
              </a:lnSpc>
            </a:pPr>
            <a:r>
              <a:rPr lang="en-US" sz="2199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05p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243300" y="4940300"/>
            <a:ext cx="927100" cy="419100"/>
          </a:xfrm>
          <a:prstGeom prst="rect">
            <a:avLst/>
          </a:prstGeom>
        </p:spPr>
        <p:txBody>
          <a:bodyPr anchor="t" rtlCol="false" lIns="0" tIns="27940" rIns="0" bIns="0"/>
          <a:lstStyle/>
          <a:p>
            <a:pPr algn="l" lvl="0">
              <a:lnSpc>
                <a:spcPct val="99600"/>
              </a:lnSpc>
            </a:pPr>
            <a:r>
              <a:rPr lang="en-US" sz="2199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07p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243300" y="6108700"/>
            <a:ext cx="927100" cy="419100"/>
          </a:xfrm>
          <a:prstGeom prst="rect">
            <a:avLst/>
          </a:prstGeom>
        </p:spPr>
        <p:txBody>
          <a:bodyPr anchor="t" rtlCol="false" lIns="0" tIns="27940" rIns="0" bIns="0"/>
          <a:lstStyle/>
          <a:p>
            <a:pPr algn="l" lvl="0">
              <a:lnSpc>
                <a:spcPct val="99600"/>
              </a:lnSpc>
            </a:pPr>
            <a:r>
              <a:rPr lang="en-US" sz="2199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23p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243300" y="7264400"/>
            <a:ext cx="927100" cy="419100"/>
          </a:xfrm>
          <a:prstGeom prst="rect">
            <a:avLst/>
          </a:prstGeom>
        </p:spPr>
        <p:txBody>
          <a:bodyPr anchor="t" rtlCol="false" lIns="0" tIns="27940" rIns="0" bIns="0"/>
          <a:lstStyle/>
          <a:p>
            <a:pPr algn="l" lvl="0">
              <a:lnSpc>
                <a:spcPct val="99600"/>
              </a:lnSpc>
            </a:pPr>
            <a:r>
              <a:rPr lang="en-US" sz="2199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32p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243300" y="8432800"/>
            <a:ext cx="635000" cy="419100"/>
          </a:xfrm>
          <a:prstGeom prst="rect">
            <a:avLst/>
          </a:prstGeom>
        </p:spPr>
        <p:txBody>
          <a:bodyPr anchor="t" rtlCol="false" lIns="0" tIns="27940" rIns="0" bIns="0"/>
          <a:lstStyle/>
          <a:p>
            <a:pPr algn="l" lvl="0">
              <a:lnSpc>
                <a:spcPct val="99600"/>
              </a:lnSpc>
            </a:pPr>
            <a:r>
              <a:rPr lang="en-US" sz="2199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34p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09700" y="584200"/>
            <a:ext cx="21209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499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TEAM VCC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4109700" y="2806700"/>
            <a:ext cx="1879600" cy="381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6654800" y="2514600"/>
            <a:ext cx="1549400" cy="609600"/>
          </a:xfrm>
          <a:prstGeom prst="rect">
            <a:avLst/>
          </a:prstGeom>
        </p:spPr>
        <p:txBody>
          <a:bodyPr anchor="t" rtlCol="false" lIns="0" tIns="41910" rIns="0" bIns="0"/>
          <a:lstStyle/>
          <a:p>
            <a:pPr algn="l" lvl="0">
              <a:lnSpc>
                <a:spcPct val="99600"/>
              </a:lnSpc>
            </a:pPr>
            <a:r>
              <a:rPr lang="en-US" sz="33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102600" y="2565400"/>
            <a:ext cx="58293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00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스펙 및 규격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243300" y="2616200"/>
            <a:ext cx="927100" cy="419100"/>
          </a:xfrm>
          <a:prstGeom prst="rect">
            <a:avLst/>
          </a:prstGeom>
        </p:spPr>
        <p:txBody>
          <a:bodyPr anchor="t" rtlCol="false" lIns="0" tIns="27940" rIns="0" bIns="0"/>
          <a:lstStyle/>
          <a:p>
            <a:pPr algn="l" lvl="0">
              <a:lnSpc>
                <a:spcPct val="99600"/>
              </a:lnSpc>
            </a:pPr>
            <a:r>
              <a:rPr lang="en-US" sz="2199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04p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812800" y="9664700"/>
            <a:ext cx="168275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alphaModFix amt="33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498600" y="2514600"/>
            <a:ext cx="7404100" cy="3060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181100" y="3683000"/>
            <a:ext cx="749300" cy="749300"/>
          </a:xfrm>
          <a:prstGeom prst="rect">
            <a:avLst/>
          </a:prstGeom>
          <a:effectLst>
            <a:outerShdw dir="2700000" dist="68580" blurRad="115157">
              <a:srgbClr val="000000">
                <a:alpha val="22000"/>
              </a:srgbClr>
            </a:outerShdw>
          </a:effectLst>
        </p:spPr>
      </p:pic>
      <p:sp>
        <p:nvSpPr>
          <p:cNvPr name="TextBox 6" id="6"/>
          <p:cNvSpPr txBox="true"/>
          <p:nvPr/>
        </p:nvSpPr>
        <p:spPr>
          <a:xfrm rot="0">
            <a:off x="1295400" y="3886200"/>
            <a:ext cx="533400" cy="368300"/>
          </a:xfrm>
          <a:prstGeom prst="rect">
            <a:avLst/>
          </a:prstGeom>
        </p:spPr>
        <p:txBody>
          <a:bodyPr anchor="ctr" rtlCol="false" lIns="0" tIns="24130" rIns="0" bIns="24130"/>
          <a:lstStyle/>
          <a:p>
            <a:pPr algn="ctr" lvl="0">
              <a:lnSpc>
                <a:spcPct val="99600"/>
              </a:lnSpc>
            </a:pPr>
            <a:r>
              <a:rPr lang="en-US" sz="1900" b="false" i="false" u="none" strike="noStrike" cap="all">
                <a:solidFill>
                  <a:srgbClr val="FBFBFB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alphaModFix amt="33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1498600" y="5981700"/>
            <a:ext cx="7404100" cy="3060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1181100" y="7162800"/>
            <a:ext cx="749300" cy="749300"/>
          </a:xfrm>
          <a:prstGeom prst="rect">
            <a:avLst/>
          </a:prstGeom>
          <a:effectLst>
            <a:outerShdw dir="2700000" dist="68580" blurRad="115157">
              <a:srgbClr val="000000">
                <a:alpha val="22000"/>
              </a:srgbClr>
            </a:outerShdw>
          </a:effectLst>
        </p:spPr>
      </p:pic>
      <p:sp>
        <p:nvSpPr>
          <p:cNvPr name="TextBox 9" id="9"/>
          <p:cNvSpPr txBox="true"/>
          <p:nvPr/>
        </p:nvSpPr>
        <p:spPr>
          <a:xfrm rot="0">
            <a:off x="1295400" y="7353300"/>
            <a:ext cx="533400" cy="368300"/>
          </a:xfrm>
          <a:prstGeom prst="rect">
            <a:avLst/>
          </a:prstGeom>
        </p:spPr>
        <p:txBody>
          <a:bodyPr anchor="ctr" rtlCol="false" lIns="0" tIns="24130" rIns="0" bIns="24130"/>
          <a:lstStyle/>
          <a:p>
            <a:pPr algn="ctr" lvl="0">
              <a:lnSpc>
                <a:spcPct val="99600"/>
              </a:lnSpc>
            </a:pPr>
            <a:r>
              <a:rPr lang="en-US" sz="1900" b="false" i="false" u="none" strike="noStrike" cap="all">
                <a:solidFill>
                  <a:srgbClr val="FBFBFB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alphaModFix amt="33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9702800" y="2514600"/>
            <a:ext cx="7404100" cy="3060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9398000" y="3683000"/>
            <a:ext cx="749300" cy="749300"/>
          </a:xfrm>
          <a:prstGeom prst="rect">
            <a:avLst/>
          </a:prstGeom>
          <a:effectLst>
            <a:outerShdw dir="2700000" dist="68580" blurRad="115157">
              <a:srgbClr val="000000">
                <a:alpha val="22000"/>
              </a:srgbClr>
            </a:outerShdw>
          </a:effectLst>
        </p:spPr>
      </p:pic>
      <p:sp>
        <p:nvSpPr>
          <p:cNvPr name="TextBox 12" id="12"/>
          <p:cNvSpPr txBox="true"/>
          <p:nvPr/>
        </p:nvSpPr>
        <p:spPr>
          <a:xfrm rot="0">
            <a:off x="9499600" y="3886200"/>
            <a:ext cx="533400" cy="368300"/>
          </a:xfrm>
          <a:prstGeom prst="rect">
            <a:avLst/>
          </a:prstGeom>
        </p:spPr>
        <p:txBody>
          <a:bodyPr anchor="ctr" rtlCol="false" lIns="0" tIns="24130" rIns="0" bIns="24130"/>
          <a:lstStyle/>
          <a:p>
            <a:pPr algn="ctr" lvl="0">
              <a:lnSpc>
                <a:spcPct val="99600"/>
              </a:lnSpc>
            </a:pPr>
            <a:r>
              <a:rPr lang="en-US" sz="1900" b="false" i="false" u="none" strike="noStrike" cap="all">
                <a:solidFill>
                  <a:srgbClr val="FBFBFB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alphaModFix amt="33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9702800" y="5981700"/>
            <a:ext cx="7404100" cy="3060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9398000" y="7162800"/>
            <a:ext cx="749300" cy="749300"/>
          </a:xfrm>
          <a:prstGeom prst="rect">
            <a:avLst/>
          </a:prstGeom>
          <a:effectLst>
            <a:outerShdw dir="2700000" dist="68580" blurRad="115157">
              <a:srgbClr val="000000">
                <a:alpha val="22000"/>
              </a:srgbClr>
            </a:outerShdw>
          </a:effectLst>
        </p:spPr>
      </p:pic>
      <p:sp>
        <p:nvSpPr>
          <p:cNvPr name="TextBox 15" id="15"/>
          <p:cNvSpPr txBox="true"/>
          <p:nvPr/>
        </p:nvSpPr>
        <p:spPr>
          <a:xfrm rot="0">
            <a:off x="9499600" y="7353300"/>
            <a:ext cx="533400" cy="368300"/>
          </a:xfrm>
          <a:prstGeom prst="rect">
            <a:avLst/>
          </a:prstGeom>
        </p:spPr>
        <p:txBody>
          <a:bodyPr anchor="ctr" rtlCol="false" lIns="0" tIns="24130" rIns="0" bIns="24130"/>
          <a:lstStyle/>
          <a:p>
            <a:pPr algn="ctr" lvl="0">
              <a:lnSpc>
                <a:spcPct val="99600"/>
              </a:lnSpc>
            </a:pPr>
            <a:r>
              <a:rPr lang="en-US" sz="1900" b="false" i="false" u="none" strike="noStrike" cap="all">
                <a:solidFill>
                  <a:srgbClr val="FBFBFB"/>
                </a:solidFill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46300" y="3263900"/>
            <a:ext cx="6553200" cy="558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99" b="false" i="false" u="none" strike="noStrike" spc="-100">
                <a:solidFill>
                  <a:srgbClr val="0061F0">
                    <a:alpha val="98039"/>
                  </a:srgbClr>
                </a:solidFill>
                <a:latin typeface="Pretendard SemiBold"/>
                <a:ea typeface="Pretendard SemiBold"/>
                <a:cs typeface="Pretendard SemiBold"/>
              </a:rPr>
              <a:t>팀 분업 구성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46300" y="3886200"/>
            <a:ext cx="4902200" cy="1549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30200" indent="-3302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00" b="true" i="false" u="none" strike="noStrike" spc="-200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ISP 시스템 팀 : 김민석 박세훈 박원준</a:t>
            </a:r>
          </a:p>
          <a:p>
            <a:pPr algn="l" lvl="1" marL="330200" indent="-3302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00" b="true" i="false" u="none" strike="noStrike" spc="-200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모터 동작 팀 : 오세훈 이찬미 최기훈</a:t>
            </a:r>
          </a:p>
          <a:p>
            <a:pPr algn="l" lvl="1" marL="330200" indent="-3302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600" b="true" i="false" u="none" strike="noStrike" spc="-200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UVM 검증 : 정혜경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63200" y="3124200"/>
            <a:ext cx="6553200" cy="558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99" b="false" i="false" u="none" strike="noStrike" spc="-100">
                <a:solidFill>
                  <a:srgbClr val="0061F0">
                    <a:alpha val="98039"/>
                  </a:srgbClr>
                </a:solidFill>
                <a:latin typeface="Pretendard SemiBold"/>
                <a:ea typeface="Pretendard SemiBold"/>
                <a:cs typeface="Pretendard SemiBold"/>
              </a:rPr>
              <a:t>개요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63200" y="3746500"/>
            <a:ext cx="6540500" cy="160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700" b="true" i="false" u="none" strike="noStrike" spc="-200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카메라 영상으로 라인과 적색 표식을 인식하고, 그 결과에 따라 차량의 방향/정지 실시간 제어를 HW로 구현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46300" y="6553200"/>
            <a:ext cx="6553200" cy="558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99" b="false" i="false" u="none" strike="noStrike" spc="-100">
                <a:solidFill>
                  <a:srgbClr val="0061F0">
                    <a:alpha val="98039"/>
                  </a:srgbClr>
                </a:solidFill>
                <a:latin typeface="Pretendard SemiBold"/>
                <a:ea typeface="Pretendard SemiBold"/>
                <a:cs typeface="Pretendard SemiBold"/>
              </a:rPr>
              <a:t>목표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82800" y="7175500"/>
            <a:ext cx="6667500" cy="160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700" b="true" i="false" u="none" strike="noStrike" spc="-200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주행 경로와 적색 정지 표식을 실시간 인식</a:t>
            </a:r>
          </a:p>
          <a:p>
            <a:pPr algn="l" lvl="1" marL="342900" indent="-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700" b="true" i="false" u="none" strike="noStrike" spc="-200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검출 결과를 UART로 모터 제어 보드에 전달하는 FPGA 기반 자율주행 자동차 시스템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63200" y="6756400"/>
            <a:ext cx="6553200" cy="558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99" b="false" i="false" u="none" strike="noStrike" spc="-100">
                <a:solidFill>
                  <a:srgbClr val="0061F0">
                    <a:alpha val="98039"/>
                  </a:srgbClr>
                </a:solidFill>
                <a:latin typeface="Pretendard SemiBold"/>
                <a:ea typeface="Pretendard SemiBold"/>
                <a:cs typeface="Pretendard SemiBold"/>
              </a:rPr>
              <a:t>수행 기간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363200" y="7378700"/>
            <a:ext cx="65532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3000" b="true" i="false" u="none" strike="noStrike" spc="-200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2026.08.31 ~ 2026.09.08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5400000">
            <a:off x="1854200" y="1638300"/>
            <a:ext cx="736600" cy="254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812800" y="939800"/>
            <a:ext cx="1562100" cy="1409700"/>
          </a:xfrm>
          <a:prstGeom prst="rect">
            <a:avLst/>
          </a:prstGeom>
        </p:spPr>
        <p:txBody>
          <a:bodyPr anchor="t" rtlCol="false" lIns="0" tIns="79375" rIns="0" bIns="0"/>
          <a:lstStyle/>
          <a:p>
            <a:pPr algn="l" lvl="0">
              <a:lnSpc>
                <a:spcPct val="107899"/>
              </a:lnSpc>
            </a:pPr>
            <a:r>
              <a:rPr lang="en-US" sz="7796" b="false" i="false" u="none" strike="noStrike">
                <a:solidFill>
                  <a:srgbClr val="000000">
                    <a:alpha val="40000"/>
                  </a:srgbClr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578100" y="1282700"/>
            <a:ext cx="8623300" cy="7239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960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프로젝트 개요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09700" y="584200"/>
            <a:ext cx="21209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499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TEAM VCC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9093200" y="2324100"/>
            <a:ext cx="9017000" cy="7162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90500" y="2324100"/>
            <a:ext cx="8877300" cy="7162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812800" y="9664700"/>
            <a:ext cx="16827500" cy="38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245600" y="2438400"/>
            <a:ext cx="8712200" cy="6921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5400000">
            <a:off x="1854200" y="1638300"/>
            <a:ext cx="736600" cy="254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812800" y="939800"/>
            <a:ext cx="1562100" cy="1409700"/>
          </a:xfrm>
          <a:prstGeom prst="rect">
            <a:avLst/>
          </a:prstGeom>
        </p:spPr>
        <p:txBody>
          <a:bodyPr anchor="t" rtlCol="false" lIns="0" tIns="79375" rIns="0" bIns="0"/>
          <a:lstStyle/>
          <a:p>
            <a:pPr algn="l" lvl="0">
              <a:lnSpc>
                <a:spcPct val="107899"/>
              </a:lnSpc>
            </a:pPr>
            <a:r>
              <a:rPr lang="en-US" sz="7796" b="false" i="false" u="none" strike="noStrike">
                <a:solidFill>
                  <a:srgbClr val="000000">
                    <a:alpha val="40000"/>
                  </a:srgbClr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78100" y="1282700"/>
            <a:ext cx="8623300" cy="7239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960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스펙 및 규격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09700" y="584200"/>
            <a:ext cx="21209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499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TEAM VCC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66700" y="2438400"/>
            <a:ext cx="8724900" cy="6946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812800" y="9664700"/>
            <a:ext cx="168275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409700" y="584200"/>
            <a:ext cx="21209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499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TEAM VCC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2667000" y="5130800"/>
            <a:ext cx="1168400" cy="381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889000" y="4025900"/>
            <a:ext cx="2616200" cy="2247900"/>
          </a:xfrm>
          <a:prstGeom prst="rect">
            <a:avLst/>
          </a:prstGeom>
        </p:spPr>
        <p:txBody>
          <a:bodyPr anchor="t" rtlCol="false" lIns="0" tIns="79375" rIns="0" bIns="0"/>
          <a:lstStyle/>
          <a:p>
            <a:pPr algn="l" lvl="0">
              <a:lnSpc>
                <a:spcPct val="107899"/>
              </a:lnSpc>
            </a:pPr>
            <a:r>
              <a:rPr lang="en-US" sz="12500" b="false" i="false" u="none" strike="noStrike">
                <a:solidFill>
                  <a:srgbClr val="000000">
                    <a:alpha val="40000"/>
                  </a:srgbClr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22700" y="4559300"/>
            <a:ext cx="13830300" cy="11557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350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전체 시스템 아키텍처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812800" y="9664700"/>
            <a:ext cx="168275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409700" y="584200"/>
            <a:ext cx="21209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499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TEAM VCC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81200" y="2108200"/>
            <a:ext cx="14490700" cy="72898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635000" y="850900"/>
            <a:ext cx="14389100" cy="977900"/>
          </a:xfrm>
          <a:prstGeom prst="rect">
            <a:avLst/>
          </a:prstGeom>
        </p:spPr>
        <p:txBody>
          <a:bodyPr anchor="ctr" rtlCol="false" lIns="0" tIns="68580" rIns="0" bIns="68580"/>
          <a:lstStyle/>
          <a:p>
            <a:pPr algn="l" lvl="0">
              <a:lnSpc>
                <a:spcPct val="99600"/>
              </a:lnSpc>
            </a:pPr>
            <a:r>
              <a:rPr lang="en-US" sz="5400" b="false" i="false" u="none" strike="noStrike" spc="-100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Overall hardware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812800" y="9664700"/>
            <a:ext cx="168275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2603500" y="2082800"/>
            <a:ext cx="1168400" cy="381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25500" y="965200"/>
            <a:ext cx="2616200" cy="2247900"/>
          </a:xfrm>
          <a:prstGeom prst="rect">
            <a:avLst/>
          </a:prstGeom>
        </p:spPr>
        <p:txBody>
          <a:bodyPr anchor="t" rtlCol="false" lIns="0" tIns="79375" rIns="0" bIns="0"/>
          <a:lstStyle/>
          <a:p>
            <a:pPr algn="l" lvl="0">
              <a:lnSpc>
                <a:spcPct val="107899"/>
              </a:lnSpc>
            </a:pPr>
            <a:r>
              <a:rPr lang="en-US" sz="12500" b="false" i="false" u="none" strike="noStrike">
                <a:solidFill>
                  <a:srgbClr val="000000">
                    <a:alpha val="40000"/>
                  </a:srgbClr>
                </a:solidFill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46500" y="1511300"/>
            <a:ext cx="13830300" cy="11557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350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ISP 시스템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9700" y="584200"/>
            <a:ext cx="21209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499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TEAM VCC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11200" y="3784600"/>
            <a:ext cx="16865600" cy="4521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812800" y="9664700"/>
            <a:ext cx="168275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409700" y="584200"/>
            <a:ext cx="21209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499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TEAM VCC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7653000" y="-12700"/>
            <a:ext cx="647700" cy="635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55600" y="2159000"/>
            <a:ext cx="17576800" cy="6781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558800" y="952500"/>
            <a:ext cx="14389100" cy="977900"/>
          </a:xfrm>
          <a:prstGeom prst="rect">
            <a:avLst/>
          </a:prstGeom>
        </p:spPr>
        <p:txBody>
          <a:bodyPr anchor="ctr" rtlCol="false" lIns="0" tIns="68580" rIns="0" bIns="68580"/>
          <a:lstStyle/>
          <a:p>
            <a:pPr algn="l" lvl="0">
              <a:lnSpc>
                <a:spcPct val="99600"/>
              </a:lnSpc>
            </a:pPr>
            <a:r>
              <a:rPr lang="en-US" sz="5400" b="false" i="false" u="none" strike="noStrike" spc="-100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ISP_TOP_BlockDiagram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2800" y="889000"/>
            <a:ext cx="17030700" cy="977900"/>
          </a:xfrm>
          <a:prstGeom prst="rect">
            <a:avLst/>
          </a:prstGeom>
        </p:spPr>
        <p:txBody>
          <a:bodyPr anchor="ctr" rtlCol="false" lIns="0" tIns="68580" rIns="0" bIns="68580"/>
          <a:lstStyle/>
          <a:p>
            <a:pPr algn="l" lvl="0">
              <a:lnSpc>
                <a:spcPct val="99600"/>
              </a:lnSpc>
            </a:pPr>
            <a:r>
              <a:rPr lang="en-US" sz="5400" b="false" i="false" u="none" strike="noStrike" spc="-100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영상 입력 제어 및 데이터 전처리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95400" y="3886200"/>
            <a:ext cx="533400" cy="368300"/>
          </a:xfrm>
          <a:prstGeom prst="rect">
            <a:avLst/>
          </a:prstGeom>
        </p:spPr>
        <p:txBody>
          <a:bodyPr anchor="ctr" rtlCol="false" lIns="0" tIns="24130" rIns="0" bIns="24130"/>
          <a:lstStyle/>
          <a:p>
            <a:pPr algn="ctr" lvl="0">
              <a:lnSpc>
                <a:spcPct val="99600"/>
              </a:lnSpc>
            </a:pPr>
            <a:r>
              <a:rPr lang="en-US" sz="1900" b="false" i="false" u="none" strike="noStrike" cap="all">
                <a:solidFill>
                  <a:srgbClr val="FBFBFB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09700" y="584200"/>
            <a:ext cx="21209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499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TEAM VCC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549400" y="9334500"/>
            <a:ext cx="158623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700" b="true" i="false" u="none" strike="noStrike" spc="-200">
                <a:solidFill>
                  <a:srgbClr val="0061F0"/>
                </a:solidFill>
                <a:latin typeface="Pretendard Light"/>
                <a:ea typeface="Pretendard Light"/>
                <a:cs typeface="Pretendard Light"/>
              </a:rPr>
              <a:t>ov7670 동작을 제어하여 영상 입력을 처리하고 gray 필터 적용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184400" y="1892300"/>
            <a:ext cx="13919200" cy="7150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54400" y="889000"/>
            <a:ext cx="14389100" cy="977900"/>
          </a:xfrm>
          <a:prstGeom prst="rect">
            <a:avLst/>
          </a:prstGeom>
        </p:spPr>
        <p:txBody>
          <a:bodyPr anchor="ctr" rtlCol="false" lIns="0" tIns="68580" rIns="0" bIns="68580"/>
          <a:lstStyle/>
          <a:p>
            <a:pPr algn="l" lvl="0">
              <a:lnSpc>
                <a:spcPct val="99600"/>
              </a:lnSpc>
            </a:pPr>
            <a:r>
              <a:rPr lang="en-US" sz="5400" b="false" i="false" u="none" strike="noStrike" spc="-100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SCCB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295400" y="3886200"/>
            <a:ext cx="533400" cy="368300"/>
          </a:xfrm>
          <a:prstGeom prst="rect">
            <a:avLst/>
          </a:prstGeom>
        </p:spPr>
        <p:txBody>
          <a:bodyPr anchor="ctr" rtlCol="false" lIns="0" tIns="24130" rIns="0" bIns="24130"/>
          <a:lstStyle/>
          <a:p>
            <a:pPr algn="ctr" lvl="0">
              <a:lnSpc>
                <a:spcPct val="99600"/>
              </a:lnSpc>
            </a:pPr>
            <a:r>
              <a:rPr lang="en-US" sz="1900" b="false" i="false" u="none" strike="noStrike" cap="all">
                <a:solidFill>
                  <a:srgbClr val="FBFBFB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692400" y="2514600"/>
            <a:ext cx="15379700" cy="57658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409700" y="584200"/>
            <a:ext cx="21209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499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TEAM VCC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13200" y="8509000"/>
            <a:ext cx="13220700" cy="1054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700" b="true" i="false" u="none" strike="noStrike" spc="-200">
                <a:solidFill>
                  <a:srgbClr val="0061F0"/>
                </a:solidFill>
                <a:latin typeface="Pretendard Light"/>
                <a:ea typeface="Pretendard Light"/>
                <a:cs typeface="Pretendard Light"/>
              </a:rPr>
              <a:t>ov7670 동작에 필요한 레지스터 주소와 데이터를 setup_rom에 저장</a:t>
            </a:r>
          </a:p>
          <a:p>
            <a:pPr algn="l" lvl="1" marL="342900" indent="-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700" b="true" i="false" u="none" strike="noStrike" spc="-200">
                <a:solidFill>
                  <a:srgbClr val="0061F0"/>
                </a:solidFill>
                <a:latin typeface="Pretendard Light"/>
                <a:ea typeface="Pretendard Light"/>
                <a:cs typeface="Pretendard Light"/>
              </a:rPr>
              <a:t>scl &amp; sda 신호를 통해 I2C 기반으로 ov7670 모듈과 basys 보드 통신 가능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1600" y="889000"/>
            <a:ext cx="2438400" cy="9410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8900000">
            <a:off x="8191500" y="7073900"/>
            <a:ext cx="1016000" cy="203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5219700" y="4584700"/>
            <a:ext cx="406400" cy="5892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2800" y="889000"/>
            <a:ext cx="17030700" cy="977900"/>
          </a:xfrm>
          <a:prstGeom prst="rect">
            <a:avLst/>
          </a:prstGeom>
        </p:spPr>
        <p:txBody>
          <a:bodyPr anchor="ctr" rtlCol="false" lIns="0" tIns="68580" rIns="0" bIns="68580"/>
          <a:lstStyle/>
          <a:p>
            <a:pPr algn="l" lvl="0">
              <a:lnSpc>
                <a:spcPct val="99600"/>
              </a:lnSpc>
            </a:pPr>
            <a:r>
              <a:rPr lang="en-US" sz="5400" b="false" i="false" u="none" strike="noStrike" spc="-100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Sobel Filter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295400" y="3886200"/>
            <a:ext cx="533400" cy="368300"/>
          </a:xfrm>
          <a:prstGeom prst="rect">
            <a:avLst/>
          </a:prstGeom>
        </p:spPr>
        <p:txBody>
          <a:bodyPr anchor="ctr" rtlCol="false" lIns="0" tIns="24130" rIns="0" bIns="24130"/>
          <a:lstStyle/>
          <a:p>
            <a:pPr algn="ctr" lvl="0">
              <a:lnSpc>
                <a:spcPct val="99600"/>
              </a:lnSpc>
            </a:pPr>
            <a:r>
              <a:rPr lang="en-US" sz="1900" b="false" i="false" u="none" strike="noStrike" cap="all">
                <a:solidFill>
                  <a:srgbClr val="FBFBFB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9700" y="584200"/>
            <a:ext cx="21209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499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TEAM VCC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38200" y="2425700"/>
            <a:ext cx="16624300" cy="60452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549400" y="8509000"/>
            <a:ext cx="158623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342900" indent="-342900">
              <a:lnSpc>
                <a:spcPct val="1328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700" b="true" i="false" u="none" strike="noStrike" spc="-2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gray filter가 적용된 데이터에 대해서 Sobel Filtering을 수행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2800" y="889000"/>
            <a:ext cx="17030700" cy="977900"/>
          </a:xfrm>
          <a:prstGeom prst="rect">
            <a:avLst/>
          </a:prstGeom>
        </p:spPr>
        <p:txBody>
          <a:bodyPr anchor="ctr" rtlCol="false" lIns="0" tIns="68580" rIns="0" bIns="68580"/>
          <a:lstStyle/>
          <a:p>
            <a:pPr algn="l" lvl="0">
              <a:lnSpc>
                <a:spcPct val="99600"/>
              </a:lnSpc>
            </a:pPr>
            <a:r>
              <a:rPr lang="en-US" sz="5400" b="false" i="false" u="none" strike="noStrike" spc="-100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Sobel Filter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409700" y="584200"/>
            <a:ext cx="21209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499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TEAM VCC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22500" y="3835400"/>
            <a:ext cx="533400" cy="368300"/>
          </a:xfrm>
          <a:prstGeom prst="rect">
            <a:avLst/>
          </a:prstGeom>
        </p:spPr>
        <p:txBody>
          <a:bodyPr anchor="ctr" rtlCol="false" lIns="0" tIns="24130" rIns="0" bIns="24130"/>
          <a:lstStyle/>
          <a:p>
            <a:pPr algn="ctr" lvl="0">
              <a:lnSpc>
                <a:spcPct val="99600"/>
              </a:lnSpc>
            </a:pPr>
            <a:r>
              <a:rPr lang="en-US" sz="1900" b="false" i="false" u="none" strike="noStrike" cap="all">
                <a:solidFill>
                  <a:srgbClr val="FBFBFB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486400" y="3619500"/>
            <a:ext cx="1600200" cy="1600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486400" y="1701800"/>
            <a:ext cx="1600200" cy="1600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5800" y="1816100"/>
            <a:ext cx="3454400" cy="33020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4483100" y="2679700"/>
            <a:ext cx="1003300" cy="173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967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*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15200" y="2425700"/>
            <a:ext cx="1155700" cy="173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967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=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23300" y="1485900"/>
            <a:ext cx="1752600" cy="173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967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dx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23300" y="3390900"/>
            <a:ext cx="1765300" cy="173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9675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dy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464300" y="5486400"/>
            <a:ext cx="10490200" cy="39878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8128000" y="9347200"/>
            <a:ext cx="3454400" cy="558800"/>
          </a:xfrm>
          <a:prstGeom prst="rect">
            <a:avLst/>
          </a:prstGeom>
        </p:spPr>
        <p:txBody>
          <a:bodyPr anchor="ctr" rtlCol="false" lIns="0" tIns="38100" rIns="0" bIns="38100"/>
          <a:lstStyle/>
          <a:p>
            <a:pPr algn="l" lvl="0">
              <a:lnSpc>
                <a:spcPct val="99600"/>
              </a:lnSpc>
            </a:pPr>
            <a:r>
              <a:rPr lang="en-US" sz="3000" b="false" i="false" u="none" strike="noStrike" spc="-100">
                <a:solidFill>
                  <a:srgbClr val="222222"/>
                </a:solidFill>
                <a:latin typeface="Pretendard SemiBold"/>
                <a:ea typeface="Pretendard SemiBold"/>
                <a:cs typeface="Pretendard SemiBold"/>
              </a:rPr>
              <a:t>gray filter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85800" y="9347200"/>
            <a:ext cx="5499100" cy="558800"/>
          </a:xfrm>
          <a:prstGeom prst="rect">
            <a:avLst/>
          </a:prstGeom>
        </p:spPr>
        <p:txBody>
          <a:bodyPr anchor="ctr" rtlCol="false" lIns="0" tIns="38100" rIns="0" bIns="38100"/>
          <a:lstStyle/>
          <a:p>
            <a:pPr algn="l" lvl="0">
              <a:lnSpc>
                <a:spcPct val="99600"/>
              </a:lnSpc>
            </a:pPr>
            <a:r>
              <a:rPr lang="en-US" sz="3000" b="false" i="false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Sobel Filter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812800" y="9664700"/>
            <a:ext cx="168275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409700" y="584200"/>
            <a:ext cx="21209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499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TEAM VCC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939800" y="2133600"/>
            <a:ext cx="114300" cy="5080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168400" y="2108200"/>
            <a:ext cx="6896100" cy="5588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107899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verification scenario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883400" y="5397500"/>
            <a:ext cx="5029200" cy="2578100"/>
          </a:xfrm>
          <a:prstGeom prst="rect">
            <a:avLst/>
          </a:prstGeom>
          <a:effectLst>
            <a:outerShdw dir="2700000" dist="238272" blurRad="103251">
              <a:srgbClr val="9E9E9E">
                <a:alpha val="50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255500" y="5397500"/>
            <a:ext cx="5207000" cy="2578100"/>
          </a:xfrm>
          <a:prstGeom prst="rect">
            <a:avLst/>
          </a:prstGeom>
          <a:effectLst>
            <a:outerShdw dir="2700000" dist="238272" blurRad="103251">
              <a:srgbClr val="9E9E9E">
                <a:alpha val="50000"/>
              </a:srgbClr>
            </a:outerShdw>
          </a:effectLst>
        </p:spPr>
      </p:pic>
      <p:sp>
        <p:nvSpPr>
          <p:cNvPr name="TextBox 9" id="9"/>
          <p:cNvSpPr txBox="true"/>
          <p:nvPr/>
        </p:nvSpPr>
        <p:spPr>
          <a:xfrm rot="0">
            <a:off x="812800" y="952500"/>
            <a:ext cx="17030700" cy="977900"/>
          </a:xfrm>
          <a:prstGeom prst="rect">
            <a:avLst/>
          </a:prstGeom>
        </p:spPr>
        <p:txBody>
          <a:bodyPr anchor="ctr" rtlCol="false" lIns="0" tIns="68580" rIns="0" bIns="68580"/>
          <a:lstStyle/>
          <a:p>
            <a:pPr algn="l" lvl="0">
              <a:lnSpc>
                <a:spcPct val="99600"/>
              </a:lnSpc>
            </a:pPr>
            <a:r>
              <a:rPr lang="en-US" sz="5400" b="false" i="false" u="none" strike="noStrike" spc="-100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UVM Verification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883400" y="2133600"/>
            <a:ext cx="9588500" cy="2209800"/>
          </a:xfrm>
          <a:prstGeom prst="rect">
            <a:avLst/>
          </a:prstGeom>
          <a:effectLst>
            <a:outerShdw dir="2700000" dist="203982" blurRad="88392">
              <a:srgbClr val="C2C2C2">
                <a:alpha val="50000"/>
              </a:srgbClr>
            </a:outerShdw>
          </a:effectLst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6883400" y="1892300"/>
            <a:ext cx="114300" cy="5080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7112000" y="1841500"/>
            <a:ext cx="6896100" cy="5588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107899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Golden result 산출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6883400" y="4749800"/>
            <a:ext cx="114300" cy="5080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7112000" y="4699000"/>
            <a:ext cx="6896100" cy="5588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107899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DUT 비교 결과(scoreboard/coverage)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55500" y="8331200"/>
            <a:ext cx="5283200" cy="673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sobel 연산 결과가 정확한지 확인을 하기 위한 검증을 했기때문에 swap을 수행하지 않았기 때문에 25%.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83400" y="8178800"/>
            <a:ext cx="5283200" cy="1308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random_0_255.txt를 9개씩 끊은 11111개 3x3 블록    전부에서, C 골든 레퍼런스가 계산한 정답과 DUT(sobel_filter) 실제 출력이 100% 일치해서 검증에 완전히 통과함.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77900" y="2628900"/>
            <a:ext cx="5575300" cy="7010400"/>
          </a:xfrm>
          <a:prstGeom prst="rect">
            <a:avLst/>
          </a:prstGeom>
          <a:effectLst>
            <a:outerShdw dir="2700000" dist="257175" blurRad="222885">
              <a:srgbClr val="C2C2C2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2800" y="952500"/>
            <a:ext cx="17030700" cy="977900"/>
          </a:xfrm>
          <a:prstGeom prst="rect">
            <a:avLst/>
          </a:prstGeom>
        </p:spPr>
        <p:txBody>
          <a:bodyPr anchor="ctr" rtlCol="false" lIns="0" tIns="68580" rIns="0" bIns="68580"/>
          <a:lstStyle/>
          <a:p>
            <a:pPr algn="l" lvl="0">
              <a:lnSpc>
                <a:spcPct val="99600"/>
              </a:lnSpc>
            </a:pPr>
            <a:r>
              <a:rPr lang="en-US" sz="5400" b="false" i="false" u="none" strike="noStrike" spc="-100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UVM Verification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850900" y="9791700"/>
            <a:ext cx="168275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409700" y="584200"/>
            <a:ext cx="21209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499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TEAM VCC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9800" y="2755900"/>
            <a:ext cx="6692900" cy="2400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939800" y="2133600"/>
            <a:ext cx="114300" cy="5080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168400" y="2108200"/>
            <a:ext cx="6896100" cy="5588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107899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|dx|+|dy| &lt; Threshold(95)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4114800" y="3429000"/>
            <a:ext cx="3200400" cy="939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1562100" y="4318000"/>
            <a:ext cx="6083300" cy="8255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6591300" y="4394200"/>
            <a:ext cx="342900" cy="381000"/>
          </a:xfrm>
          <a:prstGeom prst="rect">
            <a:avLst/>
          </a:prstGeom>
        </p:spPr>
        <p:txBody>
          <a:bodyPr anchor="t" rtlCol="false" lIns="0" tIns="12716" rIns="0" bIns="0"/>
          <a:lstStyle/>
          <a:p>
            <a:pPr algn="l" lvl="0">
              <a:lnSpc>
                <a:spcPct val="107899"/>
              </a:lnSpc>
            </a:pPr>
            <a:r>
              <a:rPr lang="en-US" sz="2002" b="tru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91300" y="4699000"/>
            <a:ext cx="342900" cy="381000"/>
          </a:xfrm>
          <a:prstGeom prst="rect">
            <a:avLst/>
          </a:prstGeom>
        </p:spPr>
        <p:txBody>
          <a:bodyPr anchor="t" rtlCol="false" lIns="0" tIns="12716" rIns="0" bIns="0"/>
          <a:lstStyle/>
          <a:p>
            <a:pPr algn="l" lvl="0">
              <a:lnSpc>
                <a:spcPct val="107899"/>
              </a:lnSpc>
            </a:pPr>
            <a:r>
              <a:rPr lang="en-US" sz="2002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</a:p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977900" y="5702300"/>
          <a:ext cx="2082800" cy="2082800"/>
        </p:xfrm>
        <a:graphic>
          <a:graphicData uri="http://schemas.openxmlformats.org/drawingml/2006/table">
            <a:tbl>
              <a:tblPr/>
              <a:tblGrid>
                <a:gridCol w="683100"/>
                <a:gridCol w="683100"/>
                <a:gridCol w="683100"/>
              </a:tblGrid>
              <a:tr h="75361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1F1F1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203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49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1F1F1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117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84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1F1F1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199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1F1F1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107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1F1F1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252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84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1F1F1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210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1F1F1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11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1F1F1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232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3454400" y="6845300"/>
            <a:ext cx="1384300" cy="1384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454400" y="5372100"/>
            <a:ext cx="1384300" cy="13843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3098800" y="6464300"/>
            <a:ext cx="6350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*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762500" y="6464300"/>
            <a:ext cx="8001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=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372100" y="5791200"/>
            <a:ext cx="2590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(|dx|)42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372100" y="7251700"/>
            <a:ext cx="2590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(|dy|)46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76300" y="8382000"/>
            <a:ext cx="75946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00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(|dx|)42 + (|dy|)46 = 88</a:t>
            </a:r>
          </a:p>
          <a:p>
            <a:pPr algn="ctr" lvl="0">
              <a:lnSpc>
                <a:spcPct val="116199"/>
              </a:lnSpc>
            </a:pPr>
            <a:r>
              <a:rPr lang="en-US" sz="3300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Threshold값 보다 작음 -&gt; sdata = 0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9613900" y="2755900"/>
            <a:ext cx="6692900" cy="24003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12674600" y="3340100"/>
            <a:ext cx="3251200" cy="9398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10033000" y="4292600"/>
            <a:ext cx="6121400" cy="8255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5303500" y="4343400"/>
            <a:ext cx="342900" cy="381000"/>
          </a:xfrm>
          <a:prstGeom prst="rect">
            <a:avLst/>
          </a:prstGeom>
        </p:spPr>
        <p:txBody>
          <a:bodyPr anchor="t" rtlCol="false" lIns="0" tIns="12716" rIns="0" bIns="0"/>
          <a:lstStyle/>
          <a:p>
            <a:pPr algn="l" lvl="0">
              <a:lnSpc>
                <a:spcPct val="107899"/>
              </a:lnSpc>
            </a:pPr>
            <a:r>
              <a:rPr lang="en-US" sz="2002" b="tru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303500" y="4635500"/>
            <a:ext cx="342900" cy="381000"/>
          </a:xfrm>
          <a:prstGeom prst="rect">
            <a:avLst/>
          </a:prstGeom>
        </p:spPr>
        <p:txBody>
          <a:bodyPr anchor="t" rtlCol="false" lIns="0" tIns="12716" rIns="0" bIns="0"/>
          <a:lstStyle/>
          <a:p>
            <a:pPr algn="l" lvl="0">
              <a:lnSpc>
                <a:spcPct val="107899"/>
              </a:lnSpc>
            </a:pPr>
            <a:r>
              <a:rPr lang="en-US" sz="2002" b="false" i="false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</a:p>
        </p:txBody>
      </p:sp>
      <p:graphicFrame>
        <p:nvGraphicFramePr>
          <p:cNvPr name="Table 26" id="26"/>
          <p:cNvGraphicFramePr>
            <a:graphicFrameLocks noGrp="true"/>
          </p:cNvGraphicFramePr>
          <p:nvPr/>
        </p:nvGraphicFramePr>
        <p:xfrm>
          <a:off x="9715500" y="5816600"/>
          <a:ext cx="2082800" cy="2082800"/>
        </p:xfrm>
        <a:graphic>
          <a:graphicData uri="http://schemas.openxmlformats.org/drawingml/2006/table">
            <a:tbl>
              <a:tblPr/>
              <a:tblGrid>
                <a:gridCol w="683100"/>
                <a:gridCol w="683100"/>
                <a:gridCol w="683100"/>
              </a:tblGrid>
              <a:tr h="753613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1F1F1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153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24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1F1F1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142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84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1F1F1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25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1F1F1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97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1F1F1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122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844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1F1F1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62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1F1F1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33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en-US" sz="2200" b="false" i="false" u="none" strike="noStrike">
                          <a:solidFill>
                            <a:srgbClr val="1F1F1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117</a:t>
                      </a:r>
                      <a:endParaRPr lang="en-US" sz="1100"/>
                    </a:p>
                  </a:txBody>
                  <a:tcPr anchor="ctr" marL="19050" marT="19050" marR="19050" marB="19050">
                    <a:lnL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27" id="2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204700" y="6845300"/>
            <a:ext cx="1384300" cy="13843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204700" y="5372100"/>
            <a:ext cx="1384300" cy="13843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11836400" y="6578600"/>
            <a:ext cx="6350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*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512800" y="6578600"/>
            <a:ext cx="8001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=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109700" y="5791200"/>
            <a:ext cx="29718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(|dx|)238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109700" y="7251700"/>
            <a:ext cx="31242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(|dy|)-98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26600" y="8382000"/>
            <a:ext cx="8026400" cy="120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300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(|dx|)238 + (|dy|)-98 = 336</a:t>
            </a:r>
          </a:p>
          <a:p>
            <a:pPr algn="ctr" lvl="0">
              <a:lnSpc>
                <a:spcPct val="116199"/>
              </a:lnSpc>
            </a:pPr>
            <a:r>
              <a:rPr lang="en-US" sz="3300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Threshold값 보다 큼 -&gt; sdata = 1</a:t>
            </a:r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9613900" y="2159000"/>
            <a:ext cx="114300" cy="508000"/>
          </a:xfrm>
          <a:prstGeom prst="rect">
            <a:avLst/>
          </a:prstGeom>
        </p:spPr>
      </p:pic>
      <p:sp>
        <p:nvSpPr>
          <p:cNvPr name="TextBox 35" id="35"/>
          <p:cNvSpPr txBox="true"/>
          <p:nvPr/>
        </p:nvSpPr>
        <p:spPr>
          <a:xfrm rot="0">
            <a:off x="9842500" y="2120900"/>
            <a:ext cx="6896100" cy="5588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107899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|dx|+|dy| &gt; Threshold(95)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295400" y="3886200"/>
            <a:ext cx="533400" cy="368300"/>
          </a:xfrm>
          <a:prstGeom prst="rect">
            <a:avLst/>
          </a:prstGeom>
        </p:spPr>
        <p:txBody>
          <a:bodyPr anchor="ctr" rtlCol="false" lIns="0" tIns="24130" rIns="0" bIns="24130"/>
          <a:lstStyle/>
          <a:p>
            <a:pPr algn="ctr" lvl="0">
              <a:lnSpc>
                <a:spcPct val="99600"/>
              </a:lnSpc>
            </a:pPr>
            <a:r>
              <a:rPr lang="en-US" sz="1900" b="false" i="false" u="none" strike="noStrike" cap="all">
                <a:solidFill>
                  <a:srgbClr val="FBFBFB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09700" y="584200"/>
            <a:ext cx="21209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499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TEAM VCC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11200" y="2654300"/>
            <a:ext cx="16789400" cy="5956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812800" y="889000"/>
            <a:ext cx="17030700" cy="977900"/>
          </a:xfrm>
          <a:prstGeom prst="rect">
            <a:avLst/>
          </a:prstGeom>
        </p:spPr>
        <p:txBody>
          <a:bodyPr anchor="ctr" rtlCol="false" lIns="0" tIns="68580" rIns="0" bIns="68580"/>
          <a:lstStyle/>
          <a:p>
            <a:pPr algn="l" lvl="0">
              <a:lnSpc>
                <a:spcPct val="99600"/>
              </a:lnSpc>
            </a:pPr>
            <a:r>
              <a:rPr lang="en-US" sz="5400" b="false" i="false" u="none" strike="noStrike" spc="-100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U_X_DETECT_x_axis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2800" y="889000"/>
            <a:ext cx="17030700" cy="977900"/>
          </a:xfrm>
          <a:prstGeom prst="rect">
            <a:avLst/>
          </a:prstGeom>
        </p:spPr>
        <p:txBody>
          <a:bodyPr anchor="ctr" rtlCol="false" lIns="0" tIns="68580" rIns="0" bIns="68580"/>
          <a:lstStyle/>
          <a:p>
            <a:pPr algn="l" lvl="0">
              <a:lnSpc>
                <a:spcPct val="99600"/>
              </a:lnSpc>
            </a:pPr>
            <a:r>
              <a:rPr lang="en-US" sz="5400" b="false" i="false" u="none" strike="noStrike" spc="-100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x_axis_ISP 흐름도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295400" y="3886200"/>
            <a:ext cx="533400" cy="368300"/>
          </a:xfrm>
          <a:prstGeom prst="rect">
            <a:avLst/>
          </a:prstGeom>
        </p:spPr>
        <p:txBody>
          <a:bodyPr anchor="ctr" rtlCol="false" lIns="0" tIns="24130" rIns="0" bIns="24130"/>
          <a:lstStyle/>
          <a:p>
            <a:pPr algn="ctr" lvl="0">
              <a:lnSpc>
                <a:spcPct val="99600"/>
              </a:lnSpc>
            </a:pPr>
            <a:r>
              <a:rPr lang="en-US" sz="1900" b="false" i="false" u="none" strike="noStrike" cap="all">
                <a:solidFill>
                  <a:srgbClr val="FBFBFB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04800" y="1879600"/>
            <a:ext cx="10731500" cy="7670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798300" y="1701800"/>
            <a:ext cx="5410200" cy="4064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8229600" y="1917700"/>
            <a:ext cx="2730500" cy="3873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3373100" y="1727200"/>
            <a:ext cx="3213100" cy="2032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404600" y="6515100"/>
            <a:ext cx="6604000" cy="2667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11366500" y="6400800"/>
            <a:ext cx="6692900" cy="2857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8242300" y="5842000"/>
            <a:ext cx="2717800" cy="36830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409700" y="584200"/>
            <a:ext cx="21209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499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TEAM VCC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9220200" y="8534400"/>
            <a:ext cx="7874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2800" y="889000"/>
            <a:ext cx="17030700" cy="977900"/>
          </a:xfrm>
          <a:prstGeom prst="rect">
            <a:avLst/>
          </a:prstGeom>
        </p:spPr>
        <p:txBody>
          <a:bodyPr anchor="ctr" rtlCol="false" lIns="0" tIns="68580" rIns="0" bIns="68580"/>
          <a:lstStyle/>
          <a:p>
            <a:pPr algn="l" lvl="0">
              <a:lnSpc>
                <a:spcPct val="99600"/>
              </a:lnSpc>
            </a:pPr>
            <a:r>
              <a:rPr lang="en-US" sz="5400" b="false" i="false" u="none" strike="noStrike" spc="-100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U_X_DETECT_red_detect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295400" y="3886200"/>
            <a:ext cx="533400" cy="368300"/>
          </a:xfrm>
          <a:prstGeom prst="rect">
            <a:avLst/>
          </a:prstGeom>
        </p:spPr>
        <p:txBody>
          <a:bodyPr anchor="ctr" rtlCol="false" lIns="0" tIns="24130" rIns="0" bIns="24130"/>
          <a:lstStyle/>
          <a:p>
            <a:pPr algn="ctr" lvl="0">
              <a:lnSpc>
                <a:spcPct val="99600"/>
              </a:lnSpc>
            </a:pPr>
            <a:r>
              <a:rPr lang="en-US" sz="1900" b="false" i="false" u="none" strike="noStrike" cap="all">
                <a:solidFill>
                  <a:srgbClr val="FBFBFB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9700" y="584200"/>
            <a:ext cx="21209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499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TEAM VCC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54000" y="1752600"/>
            <a:ext cx="16027400" cy="53721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685800" y="6502400"/>
            <a:ext cx="16395700" cy="3581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1. Red Pixel 추출</a:t>
            </a:r>
          </a:p>
          <a:p>
            <a:pPr algn="l" lvl="0">
              <a:lnSpc>
                <a:spcPct val="116199"/>
              </a:lnSpc>
            </a:pPr>
            <a:r>
              <a:rPr lang="en-US" sz="24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입력 영상의 RGB565 값을 비교하여 Red Pixel을 추출하고, Red 여부를 1-bit 데이터로 Frame Buffer에 저장</a:t>
            </a:r>
          </a:p>
          <a:p>
            <a:pPr algn="l" lvl="0">
              <a:lnSpc>
                <a:spcPct val="116199"/>
              </a:lnSpc>
            </a:pPr>
            <a:r>
              <a:rPr lang="en-US" sz="24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24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2. Gaussian Filter 및 ROI 설정</a:t>
            </a:r>
          </a:p>
          <a:p>
            <a:pPr algn="l" lvl="0">
              <a:lnSpc>
                <a:spcPct val="116199"/>
              </a:lnSpc>
            </a:pPr>
            <a:r>
              <a:rPr lang="en-US" sz="24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Gaussian Filter로 노이즈를 제거하고, Red Pixel의 최소·최대 X/Y 좌표를 이용해 객체의 ROI 영역을 설정</a:t>
            </a:r>
          </a:p>
          <a:p>
            <a:pPr algn="l" lvl="0">
              <a:lnSpc>
                <a:spcPct val="116199"/>
              </a:lnSpc>
            </a:pPr>
            <a:r>
              <a:rPr lang="en-US" sz="24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24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3. Red 판별 및 UART 전송</a:t>
            </a:r>
          </a:p>
          <a:p>
            <a:pPr algn="l" lvl="0">
              <a:lnSpc>
                <a:spcPct val="116199"/>
              </a:lnSpc>
            </a:pPr>
            <a:r>
              <a:rPr lang="en-US" sz="24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ROI 크기와 중심 좌표를 기준으로 유효한 Red 객체를 판별하고, 중앙 영역에 도달하면 8'hFF를 UART로 CU에 전송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553700" y="1574800"/>
            <a:ext cx="7607300" cy="2667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563100" y="850900"/>
            <a:ext cx="2616200" cy="2565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812800" y="9664700"/>
            <a:ext cx="168275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2603500" y="5130800"/>
            <a:ext cx="1168400" cy="381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12800" y="4025900"/>
            <a:ext cx="2692400" cy="2247900"/>
          </a:xfrm>
          <a:prstGeom prst="rect">
            <a:avLst/>
          </a:prstGeom>
        </p:spPr>
        <p:txBody>
          <a:bodyPr anchor="t" rtlCol="false" lIns="0" tIns="79375" rIns="0" bIns="0"/>
          <a:lstStyle/>
          <a:p>
            <a:pPr algn="l" lvl="0">
              <a:lnSpc>
                <a:spcPct val="107899"/>
              </a:lnSpc>
            </a:pPr>
            <a:r>
              <a:rPr lang="en-US" sz="12500" b="false" i="false" u="none" strike="noStrike">
                <a:solidFill>
                  <a:srgbClr val="000000">
                    <a:alpha val="40000"/>
                  </a:srgbClr>
                </a:solidFill>
                <a:latin typeface="Pretendard SemiBold"/>
                <a:ea typeface="Pretendard SemiBold"/>
                <a:cs typeface="Pretendard SemiBold"/>
              </a:rPr>
              <a:t>4.1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46500" y="4572000"/>
            <a:ext cx="13830300" cy="11557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350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문제 해결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9700" y="584200"/>
            <a:ext cx="21209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499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TEAM VCC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2800" y="1155700"/>
            <a:ext cx="17030700" cy="977900"/>
          </a:xfrm>
          <a:prstGeom prst="rect">
            <a:avLst/>
          </a:prstGeom>
        </p:spPr>
        <p:txBody>
          <a:bodyPr anchor="ctr" rtlCol="false" lIns="0" tIns="68580" rIns="0" bIns="68580"/>
          <a:lstStyle/>
          <a:p>
            <a:pPr algn="l" lvl="0">
              <a:lnSpc>
                <a:spcPct val="99600"/>
              </a:lnSpc>
            </a:pPr>
            <a:r>
              <a:rPr lang="en-US" sz="5400" b="false" i="false" u="none" strike="noStrike" spc="-100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troubleshooting1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698500" y="2120900"/>
            <a:ext cx="10629900" cy="558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00" b="false" i="false" u="none" strike="noStrike" spc="-100">
                <a:solidFill>
                  <a:srgbClr val="000000">
                    <a:alpha val="98039"/>
                  </a:srgbClr>
                </a:solidFill>
                <a:latin typeface="Pretendard Bold"/>
                <a:ea typeface="Pretendard Bold"/>
                <a:cs typeface="Pretendard Bold"/>
              </a:rPr>
              <a:t>좌표계산 후 전송데이터 까지는 잘 확인했지만  -&gt; negative slack 발생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3700" y="2819400"/>
            <a:ext cx="23622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2400" b="false" i="false" u="none" strike="noStrike" spc="-100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기존 방식 : 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27100" y="3416300"/>
            <a:ext cx="9931400" cy="3340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14400" y="7137400"/>
            <a:ext cx="16865600" cy="2184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914400" y="7112000"/>
            <a:ext cx="16903700" cy="6350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0782300" y="6032500"/>
            <a:ext cx="5943600" cy="6350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403" b="false" i="false" u="none" strike="noStrike" spc="-200">
                <a:solidFill>
                  <a:srgbClr val="000000">
                    <a:alpha val="98039"/>
                  </a:srgbClr>
                </a:solidFill>
                <a:latin typeface="Pretendard Bold"/>
                <a:ea typeface="Pretendard Bold"/>
                <a:cs typeface="Pretendard Bold"/>
              </a:rPr>
              <a:t>worst path : -25.168ns 발생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09700" y="584200"/>
            <a:ext cx="21209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499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TEAM VCC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0" y="838200"/>
            <a:ext cx="23876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3000" b="true" i="false" u="none" strike="noStrike" spc="-200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원인 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70000" y="9423400"/>
            <a:ext cx="12458700" cy="6350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403" b="false" i="false" u="none" strike="noStrike" spc="-200">
                <a:solidFill>
                  <a:srgbClr val="000000">
                    <a:alpha val="98039"/>
                  </a:srgbClr>
                </a:solidFill>
                <a:latin typeface="Pretendard Bold"/>
                <a:ea typeface="Pretendard Bold"/>
                <a:cs typeface="Pretendard Bold"/>
              </a:rPr>
              <a:t>-&gt; 1차 해결방안 : FSM 수정 후 state를 늘려 1 clk 당 연산 수를 줄이자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806700" y="1854200"/>
            <a:ext cx="12166600" cy="1981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11112500" y="2654300"/>
            <a:ext cx="2857500" cy="469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57500" y="901700"/>
            <a:ext cx="3098800" cy="774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2819400" y="876300"/>
            <a:ext cx="3149600" cy="812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5400000">
            <a:off x="11836400" y="1473200"/>
            <a:ext cx="1358900" cy="787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6134100" y="1193800"/>
            <a:ext cx="6464300" cy="1524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409700" y="584200"/>
            <a:ext cx="21209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499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TEAM VCC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95400" y="4064000"/>
            <a:ext cx="15036800" cy="53213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409700" y="584200"/>
            <a:ext cx="21209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499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TEAM VCC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838200"/>
            <a:ext cx="23876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3000" b="true" i="false" u="none" strike="noStrike" spc="-200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해결방안 1 :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730500" y="6451600"/>
            <a:ext cx="12077700" cy="1625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52500" y="1803400"/>
            <a:ext cx="5956300" cy="35433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8750300" y="2489200"/>
            <a:ext cx="6781800" cy="316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630" b="true" i="false" u="none" strike="noStrike" spc="-200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state를 7개로 나눠서 설정</a:t>
            </a:r>
          </a:p>
          <a:p>
            <a:pPr algn="l" lvl="0">
              <a:lnSpc>
                <a:spcPct val="132800"/>
              </a:lnSpc>
            </a:pPr>
            <a:r>
              <a:rPr lang="en-US" sz="2630" b="true" i="false" u="none" strike="noStrike" spc="-200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-&gt; 한줄씩 더하는 state</a:t>
            </a:r>
          </a:p>
          <a:p>
            <a:pPr algn="l" lvl="0">
              <a:lnSpc>
                <a:spcPct val="132800"/>
              </a:lnSpc>
            </a:pPr>
            <a:r>
              <a:rPr lang="en-US" sz="2630" b="true" i="false" u="none" strike="noStrike" spc="-200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-&gt; 한줄씩 평균 구하는 state</a:t>
            </a:r>
          </a:p>
          <a:p>
            <a:pPr algn="l" lvl="0">
              <a:lnSpc>
                <a:spcPct val="132800"/>
              </a:lnSpc>
            </a:pPr>
            <a:r>
              <a:rPr lang="en-US" sz="2630" b="true" i="false" u="none" strike="noStrike" spc="-200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-&gt; 총 평균 구하는 state</a:t>
            </a:r>
          </a:p>
          <a:p>
            <a:pPr algn="l" lvl="0">
              <a:lnSpc>
                <a:spcPct val="132800"/>
              </a:lnSpc>
            </a:pPr>
            <a:r>
              <a:rPr lang="en-US" sz="2630" b="true" i="false" u="none" strike="noStrike" spc="-200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중간중간 연산 속도를 위한 wait state도 두개 추가</a:t>
            </a:r>
          </a:p>
          <a:p>
            <a:pPr algn="l" lvl="0">
              <a:lnSpc>
                <a:spcPct val="132800"/>
              </a:lnSpc>
            </a:pPr>
            <a:r>
              <a:rPr lang="en-US" sz="2630" b="true" i="false" u="none" strike="noStrike" spc="-200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22700" y="8636000"/>
            <a:ext cx="91440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89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-24.443 으로 미세하게 줄었지만 그대로 근본적인 해결이 아님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409700" y="584200"/>
            <a:ext cx="21209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499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TEAM VCC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838200"/>
            <a:ext cx="23876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3000" b="true" i="false" u="none" strike="noStrike" spc="-200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해결방안 2 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72200" y="1752600"/>
            <a:ext cx="11760200" cy="2514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519" b="true" i="false" u="none" strike="noStrike" spc="-200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기존:  중심좌표를 평균내기 위해 나눗셈 연산 수행</a:t>
            </a:r>
          </a:p>
          <a:p>
            <a:pPr algn="l" lvl="0">
              <a:lnSpc>
                <a:spcPct val="132800"/>
              </a:lnSpc>
            </a:pPr>
            <a:r>
              <a:rPr lang="en-US" sz="2519" b="true" i="false" u="none" strike="noStrike" spc="-200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
개선: 중심좌표를 모두 누적한 후 마지막에 &gt;&gt;5(÷32)만 수행 (y좌표 영역 확장)</a:t>
            </a:r>
          </a:p>
          <a:p>
            <a:pPr algn="l" lvl="0">
              <a:lnSpc>
                <a:spcPct val="132800"/>
              </a:lnSpc>
            </a:pPr>
            <a:r>
              <a:rPr lang="en-US" sz="2519" b="true" i="false" u="none" strike="noStrike" spc="-200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
결과: Y축 탐색 구간을 32줄로 변경하여 나눗셈을 Shift 연산으로 대체하고 Critical Path을 감소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54100" y="1841500"/>
            <a:ext cx="4140200" cy="889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28700" y="3949700"/>
            <a:ext cx="4241800" cy="901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2705100" y="2806700"/>
            <a:ext cx="863600" cy="1041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159500" y="4521200"/>
            <a:ext cx="6959600" cy="2882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00200" y="7645400"/>
            <a:ext cx="15430500" cy="2184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1511300" y="7543800"/>
            <a:ext cx="15519400" cy="21717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812800" y="9664700"/>
            <a:ext cx="168275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2603500" y="5130800"/>
            <a:ext cx="1168400" cy="381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25500" y="4025900"/>
            <a:ext cx="2616200" cy="2247900"/>
          </a:xfrm>
          <a:prstGeom prst="rect">
            <a:avLst/>
          </a:prstGeom>
        </p:spPr>
        <p:txBody>
          <a:bodyPr anchor="t" rtlCol="false" lIns="0" tIns="79375" rIns="0" bIns="0"/>
          <a:lstStyle/>
          <a:p>
            <a:pPr algn="l" lvl="0">
              <a:lnSpc>
                <a:spcPct val="107899"/>
              </a:lnSpc>
            </a:pPr>
            <a:r>
              <a:rPr lang="en-US" sz="12500" b="false" i="false" u="none" strike="noStrike">
                <a:solidFill>
                  <a:srgbClr val="000000">
                    <a:alpha val="40000"/>
                  </a:srgbClr>
                </a:solidFill>
                <a:latin typeface="Pretendard SemiBold"/>
                <a:ea typeface="Pretendard SemiBold"/>
                <a:cs typeface="Pretendard SemiBold"/>
              </a:rPr>
              <a:t>05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46500" y="4572000"/>
            <a:ext cx="13830300" cy="11557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350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모터 동작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9700" y="584200"/>
            <a:ext cx="21209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499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TEAM VCC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2800" y="1155700"/>
            <a:ext cx="17030700" cy="977900"/>
          </a:xfrm>
          <a:prstGeom prst="rect">
            <a:avLst/>
          </a:prstGeom>
        </p:spPr>
        <p:txBody>
          <a:bodyPr anchor="ctr" rtlCol="false" lIns="0" tIns="68580" rIns="0" bIns="68580"/>
          <a:lstStyle/>
          <a:p>
            <a:pPr algn="l" lvl="0">
              <a:lnSpc>
                <a:spcPct val="99600"/>
              </a:lnSpc>
            </a:pPr>
            <a:r>
              <a:rPr lang="en-US" sz="5400" b="false" i="false" u="none" strike="noStrike" spc="-100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소프트웨어 설계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812800" y="9664700"/>
            <a:ext cx="168275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917700" y="4114800"/>
            <a:ext cx="3517900" cy="698500"/>
          </a:xfrm>
          <a:prstGeom prst="rect">
            <a:avLst/>
          </a:prstGeom>
        </p:spPr>
        <p:txBody>
          <a:bodyPr anchor="ctr" rtlCol="false" lIns="0" tIns="48260" rIns="0" bIns="48260"/>
          <a:lstStyle/>
          <a:p>
            <a:pPr algn="ctr" lvl="0">
              <a:lnSpc>
                <a:spcPct val="99600"/>
              </a:lnSpc>
            </a:pPr>
            <a:r>
              <a:rPr lang="en-US" sz="3800" b="true" i="false" u="none" strike="noStrike">
                <a:solidFill>
                  <a:srgbClr val="0061F0"/>
                </a:solidFill>
                <a:latin typeface="Pretendard Regular"/>
                <a:ea typeface="Pretendard Regular"/>
                <a:cs typeface="Pretendard Regular"/>
              </a:rPr>
              <a:t>UART 좌표 수신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13400" y="3937000"/>
            <a:ext cx="1346200" cy="977900"/>
          </a:xfrm>
          <a:prstGeom prst="rect">
            <a:avLst/>
          </a:prstGeom>
        </p:spPr>
        <p:txBody>
          <a:bodyPr anchor="ctr" rtlCol="false" lIns="0" tIns="68580" rIns="0" bIns="68580"/>
          <a:lstStyle/>
          <a:p>
            <a:pPr algn="ctr" lvl="0">
              <a:lnSpc>
                <a:spcPct val="99600"/>
              </a:lnSpc>
            </a:pPr>
            <a:r>
              <a:rPr lang="en-US" sz="5400" b="false" i="false" u="none" strike="noStrike" spc="-100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+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87100" y="3937000"/>
            <a:ext cx="1346200" cy="977900"/>
          </a:xfrm>
          <a:prstGeom prst="rect">
            <a:avLst/>
          </a:prstGeom>
        </p:spPr>
        <p:txBody>
          <a:bodyPr anchor="ctr" rtlCol="false" lIns="0" tIns="68580" rIns="0" bIns="68580"/>
          <a:lstStyle/>
          <a:p>
            <a:pPr algn="ctr" lvl="0">
              <a:lnSpc>
                <a:spcPct val="99600"/>
              </a:lnSpc>
            </a:pPr>
            <a:r>
              <a:rPr lang="en-US" sz="5400" b="false" i="false" u="none" strike="noStrike" spc="-100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+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00900" y="4114800"/>
            <a:ext cx="3517900" cy="698500"/>
          </a:xfrm>
          <a:prstGeom prst="rect">
            <a:avLst/>
          </a:prstGeom>
        </p:spPr>
        <p:txBody>
          <a:bodyPr anchor="ctr" rtlCol="false" lIns="0" tIns="48260" rIns="0" bIns="48260"/>
          <a:lstStyle/>
          <a:p>
            <a:pPr algn="ctr" lvl="0">
              <a:lnSpc>
                <a:spcPct val="99600"/>
              </a:lnSpc>
            </a:pPr>
            <a:r>
              <a:rPr lang="en-US" sz="3800" b="true" i="false" u="none" strike="noStrike">
                <a:solidFill>
                  <a:srgbClr val="0061F0"/>
                </a:solidFill>
                <a:latin typeface="Pretendard Regular"/>
                <a:ea typeface="Pretendard Regular"/>
                <a:cs typeface="Pretendard Regular"/>
              </a:rPr>
              <a:t>좌표 편차 계산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41200" y="4114800"/>
            <a:ext cx="4229100" cy="698500"/>
          </a:xfrm>
          <a:prstGeom prst="rect">
            <a:avLst/>
          </a:prstGeom>
        </p:spPr>
        <p:txBody>
          <a:bodyPr anchor="ctr" rtlCol="false" lIns="0" tIns="48260" rIns="0" bIns="48260"/>
          <a:lstStyle/>
          <a:p>
            <a:pPr algn="ctr" lvl="0">
              <a:lnSpc>
                <a:spcPct val="99600"/>
              </a:lnSpc>
            </a:pPr>
            <a:r>
              <a:rPr lang="en-US" sz="3800" b="true" i="false" u="none" strike="noStrike">
                <a:solidFill>
                  <a:srgbClr val="0061F0"/>
                </a:solidFill>
                <a:latin typeface="Pretendard Regular"/>
                <a:ea typeface="Pretendard Regular"/>
                <a:cs typeface="Pretendard Regular"/>
              </a:rPr>
              <a:t> 모터 제어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86000" y="7150100"/>
            <a:ext cx="13716000" cy="558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00" b="false" i="false" u="none" strike="noStrike" spc="-100">
                <a:solidFill>
                  <a:srgbClr val="0061F0">
                    <a:alpha val="98039"/>
                  </a:srgbClr>
                </a:solidFill>
                <a:latin typeface="Pretendard Bold"/>
                <a:ea typeface="Pretendard Bold"/>
                <a:cs typeface="Pretendard Bold"/>
              </a:rPr>
              <a:t>차선 X 좌표를 기반으로 주행 방향 및 좌·우 모터 속도 결정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98700" y="7912100"/>
            <a:ext cx="13690600" cy="939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2400" b="false" i="false" u="none" strike="noStrike" spc="-100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영상 처리부에서 추출한 차선 X 좌표를 UART로 수신하고, 화면 중심의 기준 좌표와 편차를 계산합니다.
계산된 편차를 기준으로 좌·우 모터의 속도 값을 선택하여 주행 방향을 제어합니다.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09700" y="584200"/>
            <a:ext cx="21209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499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TEAM VCC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2800" y="1155700"/>
            <a:ext cx="17030700" cy="977900"/>
          </a:xfrm>
          <a:prstGeom prst="rect">
            <a:avLst/>
          </a:prstGeom>
        </p:spPr>
        <p:txBody>
          <a:bodyPr anchor="ctr" rtlCol="false" lIns="0" tIns="68580" rIns="0" bIns="68580"/>
          <a:lstStyle/>
          <a:p>
            <a:pPr algn="l" lvl="0">
              <a:lnSpc>
                <a:spcPct val="99600"/>
              </a:lnSpc>
            </a:pPr>
            <a:r>
              <a:rPr lang="en-US" sz="5400" b="false" i="false" u="none" strike="noStrike" spc="-100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자동차 중앙 제어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812800" y="9664700"/>
            <a:ext cx="168275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374900" y="8674100"/>
            <a:ext cx="13716000" cy="558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3000" b="false" i="false" u="none" strike="noStrike" spc="-100">
                <a:solidFill>
                  <a:srgbClr val="0061F0">
                    <a:alpha val="98039"/>
                  </a:srgbClr>
                </a:solidFill>
                <a:latin typeface="Pretendard Bold"/>
                <a:ea typeface="Pretendard Bold"/>
                <a:cs typeface="Pretendard Bold"/>
              </a:rPr>
              <a:t>영상 처리 결과를 수신하여 주행 판단 및 좌·우 모터 제어를 수행하는 중앙 제어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09700" y="584200"/>
            <a:ext cx="21209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499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TEAM VCC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219700" y="2108200"/>
            <a:ext cx="7150100" cy="65659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2800" y="1155700"/>
            <a:ext cx="17030700" cy="977900"/>
          </a:xfrm>
          <a:prstGeom prst="rect">
            <a:avLst/>
          </a:prstGeom>
        </p:spPr>
        <p:txBody>
          <a:bodyPr anchor="ctr" rtlCol="false" lIns="0" tIns="68580" rIns="0" bIns="68580"/>
          <a:lstStyle/>
          <a:p>
            <a:pPr algn="l" lvl="0">
              <a:lnSpc>
                <a:spcPct val="99600"/>
              </a:lnSpc>
            </a:pPr>
            <a:r>
              <a:rPr lang="en-US" sz="5400" b="false" i="false" u="none" strike="noStrike" spc="-100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자동차 방향 판단 및 정지 로직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812800" y="9664700"/>
            <a:ext cx="168275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409700" y="584200"/>
            <a:ext cx="21209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499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TEAM VCC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30300" y="2184400"/>
            <a:ext cx="11010900" cy="6565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85900" y="2400300"/>
            <a:ext cx="10274300" cy="5016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6200000">
            <a:off x="3429000" y="5524500"/>
            <a:ext cx="6311900" cy="127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6200000">
            <a:off x="5321300" y="5524500"/>
            <a:ext cx="6311900" cy="127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6200000">
            <a:off x="1524000" y="5524500"/>
            <a:ext cx="6311900" cy="1270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6197600" y="8877300"/>
            <a:ext cx="8763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700" b="true" i="false" u="none" strike="noStrike" spc="-200">
                <a:solidFill>
                  <a:srgbClr val="0061F0"/>
                </a:solidFill>
                <a:latin typeface="Pretendard Light"/>
                <a:ea typeface="Pretendard Light"/>
                <a:cs typeface="Pretendard Light"/>
              </a:rPr>
              <a:t>0x80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51800" y="8877300"/>
            <a:ext cx="9652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700" b="true" i="false" u="none" strike="noStrike" spc="-200">
                <a:solidFill>
                  <a:srgbClr val="0061F0"/>
                </a:solidFill>
                <a:latin typeface="Pretendard Light"/>
                <a:ea typeface="Pretendard Light"/>
                <a:cs typeface="Pretendard Light"/>
              </a:rPr>
              <a:t>0xB0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43400" y="8877300"/>
            <a:ext cx="8509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636" b="true" i="false" u="none" strike="noStrike" spc="-200">
                <a:solidFill>
                  <a:srgbClr val="0061F0"/>
                </a:solidFill>
                <a:latin typeface="Pretendard Light"/>
                <a:ea typeface="Pretendard Light"/>
                <a:cs typeface="Pretendard Light"/>
              </a:rPr>
              <a:t>0x50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086100" y="8877300"/>
            <a:ext cx="876300" cy="508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700" b="true" i="false" u="none" strike="noStrike" spc="-200">
                <a:solidFill>
                  <a:srgbClr val="0061F0"/>
                </a:solidFill>
                <a:latin typeface="Pretendard Light"/>
                <a:ea typeface="Pretendard Light"/>
                <a:cs typeface="Pretendard Light"/>
              </a:rPr>
              <a:t>x좌표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15900" y="2463800"/>
            <a:ext cx="4813300" cy="6692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x_avg = 최근 10개 x좌표 평균</a:t>
            </a:r>
          </a:p>
          <a:p>
            <a:pPr algn="l" lvl="0">
              <a:lnSpc>
                <a:spcPct val="116199"/>
              </a:lnSpc>
            </a:pPr>
            <a:r>
              <a:rPr lang="en-US" sz="24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
dx = x_avg - 0x80
dx &lt; -30 </a:t>
            </a:r>
          </a:p>
          <a:p>
            <a:pPr algn="l" lvl="0">
              <a:lnSpc>
                <a:spcPct val="116199"/>
              </a:lnSpc>
            </a:pPr>
            <a:r>
              <a:rPr lang="en-US" sz="24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→  좌회전  (L: 후진, R: 전진)</a:t>
            </a:r>
          </a:p>
          <a:p>
            <a:pPr algn="l" lvl="0">
              <a:lnSpc>
                <a:spcPct val="116199"/>
              </a:lnSpc>
            </a:pPr>
            <a:r>
              <a:rPr lang="en-US" sz="24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
-30 ≤ dx ≤ 30 </a:t>
            </a:r>
          </a:p>
          <a:p>
            <a:pPr algn="l" lvl="0">
              <a:lnSpc>
                <a:spcPct val="116199"/>
              </a:lnSpc>
            </a:pPr>
            <a:r>
              <a:rPr lang="en-US" sz="24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→  직진   (L: 전진, R: 전진)</a:t>
            </a:r>
          </a:p>
          <a:p>
            <a:pPr algn="l" lvl="0">
              <a:lnSpc>
                <a:spcPct val="116199"/>
              </a:lnSpc>
            </a:pPr>
            <a:r>
              <a:rPr lang="en-US" sz="24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
dx &gt; 30 </a:t>
            </a:r>
          </a:p>
          <a:p>
            <a:pPr algn="l" lvl="0">
              <a:lnSpc>
                <a:spcPct val="116199"/>
              </a:lnSpc>
            </a:pPr>
            <a:r>
              <a:rPr lang="en-US" sz="24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→  우회전  (L: 전진, R: 후진)</a:t>
            </a:r>
          </a:p>
          <a:p>
            <a:pPr algn="l" lvl="0">
              <a:lnSpc>
                <a:spcPct val="116199"/>
              </a:lnSpc>
            </a:pPr>
            <a:r>
              <a:rPr lang="en-US" sz="24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24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rx = 0xff</a:t>
            </a:r>
          </a:p>
          <a:p>
            <a:pPr algn="l" lvl="0">
              <a:lnSpc>
                <a:spcPct val="116199"/>
              </a:lnSpc>
            </a:pPr>
            <a:r>
              <a:rPr lang="en-US" sz="24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-&gt; 정지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812800" y="9664700"/>
            <a:ext cx="168275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2603500" y="5130800"/>
            <a:ext cx="1168400" cy="381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723900" y="4025900"/>
            <a:ext cx="2717800" cy="2247900"/>
          </a:xfrm>
          <a:prstGeom prst="rect">
            <a:avLst/>
          </a:prstGeom>
        </p:spPr>
        <p:txBody>
          <a:bodyPr anchor="t" rtlCol="false" lIns="0" tIns="79375" rIns="0" bIns="0"/>
          <a:lstStyle/>
          <a:p>
            <a:pPr algn="l" lvl="0">
              <a:lnSpc>
                <a:spcPct val="107899"/>
              </a:lnSpc>
            </a:pPr>
            <a:r>
              <a:rPr lang="en-US" sz="12500" b="false" i="false" u="none" strike="noStrike">
                <a:solidFill>
                  <a:srgbClr val="000000">
                    <a:alpha val="40000"/>
                  </a:srgbClr>
                </a:solidFill>
                <a:latin typeface="Pretendard SemiBold"/>
                <a:ea typeface="Pretendard SemiBold"/>
                <a:cs typeface="Pretendard SemiBold"/>
              </a:rPr>
              <a:t>5.1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46500" y="4572000"/>
            <a:ext cx="13830300" cy="11557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350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문제 해결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9700" y="584200"/>
            <a:ext cx="21209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499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TEAM VCC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2800" y="1155700"/>
            <a:ext cx="17030700" cy="977900"/>
          </a:xfrm>
          <a:prstGeom prst="rect">
            <a:avLst/>
          </a:prstGeom>
        </p:spPr>
        <p:txBody>
          <a:bodyPr anchor="ctr" rtlCol="false" lIns="0" tIns="68580" rIns="0" bIns="68580"/>
          <a:lstStyle/>
          <a:p>
            <a:pPr algn="l" lvl="0">
              <a:lnSpc>
                <a:spcPct val="99600"/>
              </a:lnSpc>
            </a:pPr>
            <a:r>
              <a:rPr lang="en-US" sz="5400" b="false" i="false" u="none" strike="noStrike" spc="-100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troubleshooting1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812800" y="9664700"/>
            <a:ext cx="168275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409700" y="584200"/>
            <a:ext cx="21209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499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TEAM VCC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7700" y="2235200"/>
            <a:ext cx="13017500" cy="558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0" b="false" i="false" u="none" strike="noStrike" spc="-100">
                <a:solidFill>
                  <a:srgbClr val="000000">
                    <a:alpha val="98039"/>
                  </a:srgbClr>
                </a:solidFill>
                <a:latin typeface="Pretendard Bold"/>
                <a:ea typeface="Pretendard Bold"/>
                <a:cs typeface="Pretendard Bold"/>
              </a:rPr>
              <a:t>마이크로스테핑 모터를 대상으로 RPM 튜닝 및 구동 테스트 진행 - 서지 전압 발생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6400" y="3098800"/>
            <a:ext cx="23622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2400" b="false" i="false" u="none" strike="noStrike" spc="-100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기존 방식 : 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19300" y="3683000"/>
            <a:ext cx="10172700" cy="5626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712700" y="4292600"/>
            <a:ext cx="4140200" cy="3937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6591300" y="3683000"/>
            <a:ext cx="10960100" cy="56261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2800" y="1155700"/>
            <a:ext cx="17030700" cy="977900"/>
          </a:xfrm>
          <a:prstGeom prst="rect">
            <a:avLst/>
          </a:prstGeom>
        </p:spPr>
        <p:txBody>
          <a:bodyPr anchor="ctr" rtlCol="false" lIns="0" tIns="68580" rIns="0" bIns="68580"/>
          <a:lstStyle/>
          <a:p>
            <a:pPr algn="l" lvl="0">
              <a:lnSpc>
                <a:spcPct val="99600"/>
              </a:lnSpc>
            </a:pPr>
            <a:r>
              <a:rPr lang="en-US" sz="5400" b="false" i="false" u="none" strike="noStrike" spc="-100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troubleshooting1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812800" y="9664700"/>
            <a:ext cx="168275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409700" y="584200"/>
            <a:ext cx="21209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499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TEAM VCC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12800" y="4254500"/>
            <a:ext cx="2501900" cy="25273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723900" y="2286000"/>
            <a:ext cx="7810500" cy="10922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0" b="false" i="false" u="none" strike="noStrike" spc="-100">
                <a:solidFill>
                  <a:srgbClr val="000000">
                    <a:alpha val="98039"/>
                  </a:srgbClr>
                </a:solidFill>
                <a:latin typeface="Pretendard Bold"/>
                <a:ea typeface="Pretendard Bold"/>
                <a:cs typeface="Pretendard Bold"/>
              </a:rPr>
              <a:t>[해결 방안 1]
Over Voltage Protection 수정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5600" y="3695700"/>
            <a:ext cx="35560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2400" b="false" i="false" u="none" strike="noStrike" spc="-100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문제 원인 : 마진 설계 부족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274300" y="4178300"/>
            <a:ext cx="6515100" cy="4864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721100" y="4254500"/>
            <a:ext cx="6146800" cy="3467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274300" y="1092200"/>
            <a:ext cx="6654800" cy="28448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812800" y="9664700"/>
            <a:ext cx="168275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409700" y="584200"/>
            <a:ext cx="21209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499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TEAM VCC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55600" y="3556000"/>
            <a:ext cx="2260600" cy="3276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584700" y="3200400"/>
            <a:ext cx="3759200" cy="36322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4127500" y="7264400"/>
            <a:ext cx="4673600" cy="1193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18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4개의 코일에 정해진 순서로 전류를 </a:t>
            </a:r>
          </a:p>
          <a:p>
            <a:pPr algn="ctr" lvl="0">
              <a:lnSpc>
                <a:spcPct val="116199"/>
              </a:lnSpc>
            </a:pPr>
            <a:r>
              <a:rPr lang="en-US" sz="218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인가하여 자기장 방향을 바꾸고, </a:t>
            </a:r>
          </a:p>
          <a:p>
            <a:pPr algn="ctr" lvl="0">
              <a:lnSpc>
                <a:spcPct val="116199"/>
              </a:lnSpc>
            </a:pPr>
            <a:r>
              <a:rPr lang="en-US" sz="218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회전자를 단계적으로 회전시킴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5300" y="2273300"/>
            <a:ext cx="16256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1" marL="334518" indent="-334518">
              <a:lnSpc>
                <a:spcPct val="116199"/>
              </a:lnSpc>
              <a:buAutoNum type="arabicPeriod" startAt="1"/>
            </a:pPr>
            <a:r>
              <a:rPr lang="en-US" sz="263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외형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49900" y="2273300"/>
            <a:ext cx="18415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3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2. 내부 구조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44200" y="2273300"/>
            <a:ext cx="18669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3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3. 구동 방식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91700" y="2971800"/>
            <a:ext cx="39116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3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Half-step 구동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44100" y="5549900"/>
            <a:ext cx="36195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63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Full-step 구동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512300" y="6248400"/>
            <a:ext cx="5067300" cy="1625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372600" y="3670300"/>
            <a:ext cx="5359400" cy="16891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9156700" y="8013700"/>
            <a:ext cx="5778500" cy="80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18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구동 토크 확보를 위해 Half-step 방식에서 </a:t>
            </a:r>
          </a:p>
          <a:p>
            <a:pPr algn="ctr" lvl="0">
              <a:lnSpc>
                <a:spcPct val="116199"/>
              </a:lnSpc>
            </a:pPr>
            <a:r>
              <a:rPr lang="en-US" sz="2186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2상 여자 Full-step 방식으로 변경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-254000" y="1104900"/>
            <a:ext cx="6896100" cy="533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892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[해결 방안 1] STEP MOTOR 로 변경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338300" y="1104900"/>
            <a:ext cx="3606800" cy="4241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14490700" y="1104900"/>
            <a:ext cx="3517900" cy="40513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2800" y="1155700"/>
            <a:ext cx="17030700" cy="977900"/>
          </a:xfrm>
          <a:prstGeom prst="rect">
            <a:avLst/>
          </a:prstGeom>
        </p:spPr>
        <p:txBody>
          <a:bodyPr anchor="ctr" rtlCol="false" lIns="0" tIns="68580" rIns="0" bIns="68580"/>
          <a:lstStyle/>
          <a:p>
            <a:pPr algn="l" lvl="0">
              <a:lnSpc>
                <a:spcPct val="99600"/>
              </a:lnSpc>
            </a:pPr>
            <a:r>
              <a:rPr lang="en-US" sz="5400" b="false" i="false" u="none" strike="noStrike" spc="-100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troubleshooting2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812800" y="9664700"/>
            <a:ext cx="168275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409700" y="584200"/>
            <a:ext cx="21209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499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TEAM VCC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46100" y="2197100"/>
            <a:ext cx="13017500" cy="558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000" b="false" i="false" u="none" strike="noStrike" spc="-100">
                <a:solidFill>
                  <a:srgbClr val="000000">
                    <a:alpha val="98039"/>
                  </a:srgbClr>
                </a:solidFill>
                <a:latin typeface="Pretendard Bold"/>
                <a:ea typeface="Pretendard Bold"/>
                <a:cs typeface="Pretendard Bold"/>
              </a:rPr>
              <a:t>자동차의 회전각 문제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911600" y="2108200"/>
            <a:ext cx="4013200" cy="7277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426700" y="2108200"/>
            <a:ext cx="3949700" cy="7277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8470900" y="4673600"/>
            <a:ext cx="14097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812800" y="9664700"/>
            <a:ext cx="168275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2603500" y="5130800"/>
            <a:ext cx="1168400" cy="381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25500" y="4025900"/>
            <a:ext cx="2616200" cy="2247900"/>
          </a:xfrm>
          <a:prstGeom prst="rect">
            <a:avLst/>
          </a:prstGeom>
        </p:spPr>
        <p:txBody>
          <a:bodyPr anchor="t" rtlCol="false" lIns="0" tIns="79375" rIns="0" bIns="0"/>
          <a:lstStyle/>
          <a:p>
            <a:pPr algn="l" lvl="0">
              <a:lnSpc>
                <a:spcPct val="107899"/>
              </a:lnSpc>
            </a:pPr>
            <a:r>
              <a:rPr lang="en-US" sz="12500" b="false" i="false" u="none" strike="noStrike">
                <a:solidFill>
                  <a:srgbClr val="000000">
                    <a:alpha val="40000"/>
                  </a:srgbClr>
                </a:solidFill>
                <a:latin typeface="Pretendard SemiBold"/>
                <a:ea typeface="Pretendard SemiBold"/>
                <a:cs typeface="Pretendard SemiBold"/>
              </a:rPr>
              <a:t>06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46500" y="4572000"/>
            <a:ext cx="13830300" cy="11557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350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시연 영상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9700" y="584200"/>
            <a:ext cx="21209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499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TEAM VCC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2800" y="1155700"/>
            <a:ext cx="17030700" cy="977900"/>
          </a:xfrm>
          <a:prstGeom prst="rect">
            <a:avLst/>
          </a:prstGeom>
        </p:spPr>
        <p:txBody>
          <a:bodyPr anchor="ctr" rtlCol="false" lIns="0" tIns="68580" rIns="0" bIns="68580"/>
          <a:lstStyle/>
          <a:p>
            <a:pPr algn="l" lvl="0">
              <a:lnSpc>
                <a:spcPct val="99600"/>
              </a:lnSpc>
            </a:pPr>
            <a:r>
              <a:rPr lang="en-US" sz="5400" b="false" i="false" u="none" strike="noStrike" spc="-100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시연 영상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812800" y="9664700"/>
            <a:ext cx="168275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409700" y="584200"/>
            <a:ext cx="21209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499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TEAM VCC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812800" y="9664700"/>
            <a:ext cx="168275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2603500" y="5130800"/>
            <a:ext cx="1168400" cy="381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825500" y="4025900"/>
            <a:ext cx="2616200" cy="2247900"/>
          </a:xfrm>
          <a:prstGeom prst="rect">
            <a:avLst/>
          </a:prstGeom>
        </p:spPr>
        <p:txBody>
          <a:bodyPr anchor="t" rtlCol="false" lIns="0" tIns="79375" rIns="0" bIns="0"/>
          <a:lstStyle/>
          <a:p>
            <a:pPr algn="l" lvl="0">
              <a:lnSpc>
                <a:spcPct val="107899"/>
              </a:lnSpc>
            </a:pPr>
            <a:r>
              <a:rPr lang="en-US" sz="12500" b="false" i="false" u="none" strike="noStrike">
                <a:solidFill>
                  <a:srgbClr val="000000">
                    <a:alpha val="40000"/>
                  </a:srgbClr>
                </a:solidFill>
                <a:latin typeface="Pretendard SemiBold"/>
                <a:ea typeface="Pretendard SemiBold"/>
                <a:cs typeface="Pretendard SemiBold"/>
              </a:rPr>
              <a:t>07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46500" y="4572000"/>
            <a:ext cx="13830300" cy="11557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6350" b="false" i="false" u="none" strike="noStrike">
                <a:solidFill>
                  <a:srgbClr val="222222"/>
                </a:solidFill>
                <a:latin typeface="Pretendard Light"/>
                <a:ea typeface="Pretendard Light"/>
                <a:cs typeface="Pretendard Light"/>
              </a:rPr>
              <a:t>결론 및 향후 목표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9700" y="584200"/>
            <a:ext cx="21209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499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TEAM VCC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812800" y="9664700"/>
            <a:ext cx="16827500" cy="38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215900" y="1447800"/>
            <a:ext cx="114300" cy="508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alphaModFix amt="7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215900" y="3467100"/>
            <a:ext cx="8763000" cy="6096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>
            <a:alphaModFix amt="4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215900" y="2082800"/>
            <a:ext cx="8763000" cy="128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2">
            <a:alphaModFix amt="7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9296400" y="3467100"/>
            <a:ext cx="8788400" cy="6096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4">
            <a:alphaModFix amt="4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9296400" y="2082800"/>
            <a:ext cx="8788400" cy="1282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431800" y="1422400"/>
            <a:ext cx="16294100" cy="5588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107899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HW Resource / Power / Timing Slack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9000" y="2501900"/>
            <a:ext cx="73914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ISP 시스템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45700" y="2501900"/>
            <a:ext cx="7391400" cy="431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30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모터 동작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342900" y="3606800"/>
            <a:ext cx="8496300" cy="2679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330200" y="6591300"/>
            <a:ext cx="5397500" cy="2768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9486900" y="6591300"/>
            <a:ext cx="5372100" cy="2743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9486900" y="3606800"/>
            <a:ext cx="8509000" cy="2679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5816600" y="6324600"/>
            <a:ext cx="3022600" cy="1549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5816600" y="7848600"/>
            <a:ext cx="3022600" cy="1663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4922500" y="6324600"/>
            <a:ext cx="3073400" cy="1587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4922500" y="7950200"/>
            <a:ext cx="3073400" cy="15494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181100" y="431800"/>
            <a:ext cx="13843000" cy="800100"/>
          </a:xfrm>
          <a:prstGeom prst="rect">
            <a:avLst/>
          </a:prstGeom>
        </p:spPr>
        <p:txBody>
          <a:bodyPr anchor="ctr" rtlCol="false" lIns="0" tIns="68580" rIns="0" bIns="68580"/>
          <a:lstStyle/>
          <a:p>
            <a:pPr algn="l" lvl="0">
              <a:lnSpc>
                <a:spcPct val="99600"/>
              </a:lnSpc>
            </a:pPr>
            <a:r>
              <a:rPr lang="en-US" sz="4388" b="false" i="false" u="none" strike="noStrike" spc="-100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결론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-177800" y="9867900"/>
            <a:ext cx="18630900" cy="4318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812800" y="1155700"/>
            <a:ext cx="17030700" cy="977900"/>
          </a:xfrm>
          <a:prstGeom prst="rect">
            <a:avLst/>
          </a:prstGeom>
        </p:spPr>
        <p:txBody>
          <a:bodyPr anchor="ctr" rtlCol="false" lIns="0" tIns="68580" rIns="0" bIns="68580"/>
          <a:lstStyle/>
          <a:p>
            <a:pPr algn="l" lvl="0">
              <a:lnSpc>
                <a:spcPct val="99600"/>
              </a:lnSpc>
            </a:pPr>
            <a:r>
              <a:rPr lang="en-US" sz="5400" b="false" i="false" u="none" strike="noStrike" spc="-100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프로젝트 개선 및 추진 방향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812800" y="9664700"/>
            <a:ext cx="16827500" cy="381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409700" y="584200"/>
            <a:ext cx="2120900" cy="2921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l" lvl="0">
              <a:lnSpc>
                <a:spcPct val="99600"/>
              </a:lnSpc>
            </a:pPr>
            <a:r>
              <a:rPr lang="en-US" sz="1499" b="false" i="false" u="none" strike="noStrike" cap="all">
                <a:solidFill>
                  <a:srgbClr val="0061F0"/>
                </a:solidFill>
                <a:latin typeface="Pretendard SemiBold"/>
                <a:ea typeface="Pretendard SemiBold"/>
                <a:cs typeface="Pretendard SemiBold"/>
              </a:rPr>
              <a:t>TEAM VCC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8">
            <a:alphaModFix amt="7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524000" y="2755900"/>
            <a:ext cx="3479800" cy="3479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0">
            <a:alphaModFix amt="7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88900" y="5105400"/>
            <a:ext cx="3479800" cy="3479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1524000" y="6311900"/>
            <a:ext cx="660400" cy="660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2857500" y="3822700"/>
            <a:ext cx="800100" cy="800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5">
            <a:alphaModFix amt="7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2946400" y="5105400"/>
            <a:ext cx="3479800" cy="34798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3352800" y="6997700"/>
            <a:ext cx="26670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37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Autonomous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5300" y="6997700"/>
            <a:ext cx="26670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37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CAN protocol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30400" y="4572000"/>
            <a:ext cx="26670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37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CNN accelerator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4368800" y="6311900"/>
            <a:ext cx="660400" cy="660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7493000" y="2755900"/>
            <a:ext cx="10655300" cy="5854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6311900" y="5257800"/>
            <a:ext cx="1041400" cy="8509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-177800" y="9867900"/>
            <a:ext cx="18630900" cy="431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467100" y="698500"/>
            <a:ext cx="14211300" cy="38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812800" y="9664700"/>
            <a:ext cx="16827500" cy="38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39800" y="990600"/>
            <a:ext cx="114300" cy="50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>
            <a:alphaModFix amt="7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5600700" y="2540000"/>
            <a:ext cx="3187700" cy="2705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0">
            <a:alphaModFix amt="7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1689100" y="2540000"/>
            <a:ext cx="3187700" cy="2705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689100" y="1917700"/>
            <a:ext cx="3187700" cy="647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5600700" y="1917700"/>
            <a:ext cx="3187700" cy="647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>
            <a:alphaModFix amt="7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9512300" y="2540000"/>
            <a:ext cx="3187700" cy="2705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9512300" y="1917700"/>
            <a:ext cx="3187700" cy="647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>
            <a:alphaModFix amt="7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13411200" y="2540000"/>
            <a:ext cx="3187700" cy="2705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13411200" y="1917700"/>
            <a:ext cx="3187700" cy="647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>
            <a:alphaModFix amt="7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1689100" y="6629400"/>
            <a:ext cx="3187700" cy="2705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>
            <a:off x="1689100" y="6007100"/>
            <a:ext cx="3187700" cy="647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>
            <a:alphaModFix amt="7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5600700" y="6629400"/>
            <a:ext cx="3187700" cy="2705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5600700" y="6007100"/>
            <a:ext cx="3187700" cy="647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0">
            <a:alphaModFix amt="7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9512300" y="6629400"/>
            <a:ext cx="3187700" cy="27051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0">
            <a:off x="9512300" y="6007100"/>
            <a:ext cx="3187700" cy="6477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168400" y="965200"/>
            <a:ext cx="16294100" cy="5588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107899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팀원 소감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89100" y="2679700"/>
            <a:ext cx="3251200" cy="227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228600" indent="-2286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영상 처리 과정에서 오류 원인을 하나씩 알아내고 해결하는 과정으로 성장함을 느꼈다.</a:t>
            </a:r>
          </a:p>
          <a:p>
            <a:pPr algn="l" lvl="1" marL="228600" indent="-2286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오히려 기구적으로 동작할 때 오류가 많아서 시간 지체가 있었다.</a:t>
            </a:r>
          </a:p>
          <a:p>
            <a:pPr algn="l" lvl="1" marL="228600" indent="-2286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팀원들과 호흡이 잘 맞아서 merge 작업은 매우 수월했다.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52600" y="2044700"/>
            <a:ext cx="3048000" cy="381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김민석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664200" y="2044700"/>
            <a:ext cx="3048000" cy="381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박세훈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75800" y="2044700"/>
            <a:ext cx="3048000" cy="381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박원준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87400" y="2044700"/>
            <a:ext cx="3048000" cy="381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오세훈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52600" y="6146800"/>
            <a:ext cx="3048000" cy="381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이찬미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664200" y="6146800"/>
            <a:ext cx="3048000" cy="381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정혜경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23400" y="6781800"/>
            <a:ext cx="3429000" cy="227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228600" indent="-2286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모터의 구동 방식을 기본적인 DC 모터에서 부터 브러시리스 모터까지 익혀 차후 모터 사용시 적절한 모터를 사용 할 수 있는 역량을향상 했다.</a:t>
            </a:r>
          </a:p>
          <a:p>
            <a:pPr algn="l" lvl="1" marL="228600" indent="-2286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AXI IP 설계와 vitis C 코드 설계를 복습하며 설계 역량을 높혔다.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575800" y="6146800"/>
            <a:ext cx="3048000" cy="381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최기훈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0">
            <a:alphaModFix amt="7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13423900" y="6578600"/>
            <a:ext cx="3187700" cy="27051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13411200" y="6007100"/>
            <a:ext cx="3187700" cy="647700"/>
          </a:xfrm>
          <a:prstGeom prst="rect">
            <a:avLst/>
          </a:prstGeom>
        </p:spPr>
      </p:pic>
      <p:sp>
        <p:nvSpPr>
          <p:cNvPr name="TextBox 32" id="32"/>
          <p:cNvSpPr txBox="true"/>
          <p:nvPr/>
        </p:nvSpPr>
        <p:spPr>
          <a:xfrm rot="0">
            <a:off x="13487400" y="6146800"/>
            <a:ext cx="3048000" cy="3810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단체 사진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411200" y="2743200"/>
            <a:ext cx="3251200" cy="194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228600" indent="-2286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단순히 Ideal한 보드 수준에서 동작하는 것이 아닌 실제 구현 과정에서 발생한 다양한 문제를 분석하고 개선해 나가며 설계 최적화와 디버깅 역량을 향상시킬 수 있었다.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512300" y="2743200"/>
            <a:ext cx="3251200" cy="227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228600" indent="-2286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본래 구동 대상이었던 모터를 사용할 수 없게 되는 불상사가 발생하였으나 다른 모터를 사용하는 것으로 해결했다.</a:t>
            </a:r>
          </a:p>
          <a:p>
            <a:pPr algn="l" lvl="1" marL="228600" indent="-2286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프로젝트가 진행 불가일 수도 있었으나 팀원 간의 갈등 없이 문제를 해결할 수 있어서 좋았다.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702300" y="2692400"/>
            <a:ext cx="3035300" cy="227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228600" indent="-2286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프로젝트 초기에 모듈 간 인터페이스와 데이터 흐름, 신호선을 체계적으로 잘 정리해두어 기능 추가와 디버깅을 효율적으로 진행할 수 있었다.</a:t>
            </a:r>
          </a:p>
          <a:p>
            <a:pPr algn="l" lvl="1" marL="228600" indent="-2286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팀원들과 즐겁게 프로젝트를 진행해서 좋았다.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89100" y="6756400"/>
            <a:ext cx="3251200" cy="227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228600" indent="-2286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Red 객체 검출 후 모터가 구동,</a:t>
            </a:r>
            <a:br>
              <a:rPr lang="en-US" sz="1800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1800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정지를 반복하는 문제를 해결하면서, 개별 모듈의 동작뿐 아니라 각 모듈간의 신호 전달과 상태 유지가 중요함을 배웠다.</a:t>
            </a:r>
          </a:p>
          <a:p>
            <a:pPr algn="l" lvl="1" marL="228600" indent="-2286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팀원들과 소통하면서 문제를 해결하는 과정이 좋았다.</a:t>
            </a:r>
            <a:r>
              <a:rPr lang="en-US" sz="1800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3411200" y="6769100"/>
            <a:ext cx="3175000" cy="2374900"/>
          </a:xfrm>
          <a:prstGeom prst="rect">
            <a:avLst/>
          </a:prstGeom>
        </p:spPr>
      </p:pic>
      <p:sp>
        <p:nvSpPr>
          <p:cNvPr name="TextBox 38" id="38"/>
          <p:cNvSpPr txBox="true"/>
          <p:nvPr/>
        </p:nvSpPr>
        <p:spPr>
          <a:xfrm rot="0">
            <a:off x="5600700" y="6781800"/>
            <a:ext cx="3251200" cy="2273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1" marL="228600" indent="-2286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Sobel filter UVM 검증을 통해 시스템 구조와 신호 타이밍을 더 깊이 이해할수있었다.</a:t>
            </a:r>
          </a:p>
          <a:p>
            <a:pPr algn="l" lvl="1" marL="228600" indent="-2286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검증 중 이슈를 팀원들과 논의하면서 설계자의 의도를 파악할 수 있었고, 소통과정이 활발하여    문제해결에 큰 도움이 되었다.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